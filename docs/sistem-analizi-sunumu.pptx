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8" r:id="rId2"/>
    <p:sldId id="271" r:id="rId3"/>
    <p:sldId id="283" r:id="rId4"/>
    <p:sldId id="284" r:id="rId5"/>
    <p:sldId id="285" r:id="rId6"/>
    <p:sldId id="286" r:id="rId7"/>
    <p:sldId id="287" r:id="rId8"/>
    <p:sldId id="288" r:id="rId9"/>
    <p:sldId id="292" r:id="rId10"/>
    <p:sldId id="295" r:id="rId11"/>
    <p:sldId id="272" r:id="rId12"/>
    <p:sldId id="279" r:id="rId13"/>
    <p:sldId id="278" r:id="rId14"/>
    <p:sldId id="280" r:id="rId15"/>
    <p:sldId id="293" r:id="rId16"/>
    <p:sldId id="298" r:id="rId17"/>
    <p:sldId id="299" r:id="rId18"/>
    <p:sldId id="294" r:id="rId19"/>
    <p:sldId id="281" r:id="rId20"/>
    <p:sldId id="274" r:id="rId21"/>
    <p:sldId id="296" r:id="rId22"/>
    <p:sldId id="259" r:id="rId23"/>
    <p:sldId id="261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97" r:id="rId32"/>
    <p:sldId id="277" r:id="rId3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C2F1"/>
    <a:srgbClr val="0A3D4E"/>
    <a:srgbClr val="EC1C24"/>
    <a:srgbClr val="B3C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CC1C9F-66CD-4585-802D-1417E7925D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64DEED-7162-46A4-814E-9AF2A95ED6DD}">
      <dgm:prSet/>
      <dgm:spPr/>
      <dgm:t>
        <a:bodyPr/>
        <a:lstStyle/>
        <a:p>
          <a:r>
            <a:rPr lang="tr-TR" b="0" i="0" baseline="0"/>
            <a:t>Öğrenci randevu oluşturabilmeli ve iptal edebilmeli.</a:t>
          </a:r>
          <a:endParaRPr lang="en-US"/>
        </a:p>
      </dgm:t>
    </dgm:pt>
    <dgm:pt modelId="{1DEF1B14-F3CF-4E6A-9CA5-AD8959F8A260}" type="parTrans" cxnId="{25C09DCD-DD8B-49E8-BF97-A2C6DB404C48}">
      <dgm:prSet/>
      <dgm:spPr/>
      <dgm:t>
        <a:bodyPr/>
        <a:lstStyle/>
        <a:p>
          <a:endParaRPr lang="en-US"/>
        </a:p>
      </dgm:t>
    </dgm:pt>
    <dgm:pt modelId="{26C621C1-55C5-4A62-BEF5-E84C71FD3BF6}" type="sibTrans" cxnId="{25C09DCD-DD8B-49E8-BF97-A2C6DB404C48}">
      <dgm:prSet/>
      <dgm:spPr/>
      <dgm:t>
        <a:bodyPr/>
        <a:lstStyle/>
        <a:p>
          <a:endParaRPr lang="en-US"/>
        </a:p>
      </dgm:t>
    </dgm:pt>
    <dgm:pt modelId="{473CF103-C8FE-45AD-9B11-954B320AAC9B}">
      <dgm:prSet/>
      <dgm:spPr/>
      <dgm:t>
        <a:bodyPr/>
        <a:lstStyle/>
        <a:p>
          <a:r>
            <a:rPr lang="tr-TR" b="0" i="0" baseline="0"/>
            <a:t>Sistem, gelmeyen öğrenciye otomatik ceza puanı atamalı.</a:t>
          </a:r>
          <a:endParaRPr lang="en-US"/>
        </a:p>
      </dgm:t>
    </dgm:pt>
    <dgm:pt modelId="{6F3EC084-3CB8-44BD-86F2-45F845B3AB75}" type="parTrans" cxnId="{0E8F1C01-25AD-451C-8EA2-3E6F4FE8D5B8}">
      <dgm:prSet/>
      <dgm:spPr/>
      <dgm:t>
        <a:bodyPr/>
        <a:lstStyle/>
        <a:p>
          <a:endParaRPr lang="en-US"/>
        </a:p>
      </dgm:t>
    </dgm:pt>
    <dgm:pt modelId="{4B11732F-12B1-4FF6-82D6-E2C9E22E835E}" type="sibTrans" cxnId="{0E8F1C01-25AD-451C-8EA2-3E6F4FE8D5B8}">
      <dgm:prSet/>
      <dgm:spPr/>
      <dgm:t>
        <a:bodyPr/>
        <a:lstStyle/>
        <a:p>
          <a:endParaRPr lang="en-US"/>
        </a:p>
      </dgm:t>
    </dgm:pt>
    <dgm:pt modelId="{307E6CA4-F6DD-497C-AA76-3E81CD23D86A}">
      <dgm:prSet/>
      <dgm:spPr/>
      <dgm:t>
        <a:bodyPr/>
        <a:lstStyle/>
        <a:p>
          <a:r>
            <a:rPr lang="tr-TR" b="0" i="0" baseline="0" dirty="0"/>
            <a:t>Yöneticiler arızalı makineleri sistemden randevuya  kapatabilmeli.</a:t>
          </a:r>
          <a:endParaRPr lang="en-US" dirty="0"/>
        </a:p>
      </dgm:t>
    </dgm:pt>
    <dgm:pt modelId="{E909CD5C-6664-408A-B19E-DC8D1D26A04D}" type="parTrans" cxnId="{42EC039F-0206-47D7-AA08-F9B8825A682F}">
      <dgm:prSet/>
      <dgm:spPr/>
      <dgm:t>
        <a:bodyPr/>
        <a:lstStyle/>
        <a:p>
          <a:endParaRPr lang="en-US"/>
        </a:p>
      </dgm:t>
    </dgm:pt>
    <dgm:pt modelId="{59AC2D70-7083-46FC-924B-C5F2A2A35D88}" type="sibTrans" cxnId="{42EC039F-0206-47D7-AA08-F9B8825A682F}">
      <dgm:prSet/>
      <dgm:spPr/>
      <dgm:t>
        <a:bodyPr/>
        <a:lstStyle/>
        <a:p>
          <a:endParaRPr lang="en-US"/>
        </a:p>
      </dgm:t>
    </dgm:pt>
    <dgm:pt modelId="{E73DB51C-1BAA-4954-9DDD-07E7B52F7DEB}">
      <dgm:prSet/>
      <dgm:spPr/>
      <dgm:t>
        <a:bodyPr/>
        <a:lstStyle/>
        <a:p>
          <a:r>
            <a:rPr lang="tr-TR" dirty="0"/>
            <a:t>Süreç düzgün takip edilebilmeli.</a:t>
          </a:r>
          <a:endParaRPr lang="en-US" dirty="0"/>
        </a:p>
      </dgm:t>
    </dgm:pt>
    <dgm:pt modelId="{63BD7C64-2DFE-4FF1-89BD-E44D2151C8E4}" type="parTrans" cxnId="{D509F58E-3F86-4FF5-8E5B-6B6213661704}">
      <dgm:prSet/>
      <dgm:spPr/>
      <dgm:t>
        <a:bodyPr/>
        <a:lstStyle/>
        <a:p>
          <a:endParaRPr lang="en-US"/>
        </a:p>
      </dgm:t>
    </dgm:pt>
    <dgm:pt modelId="{D7BA5AEF-DB21-4E89-B199-E66AF9A771E1}" type="sibTrans" cxnId="{D509F58E-3F86-4FF5-8E5B-6B6213661704}">
      <dgm:prSet/>
      <dgm:spPr/>
      <dgm:t>
        <a:bodyPr/>
        <a:lstStyle/>
        <a:p>
          <a:endParaRPr lang="en-US"/>
        </a:p>
      </dgm:t>
    </dgm:pt>
    <dgm:pt modelId="{3B1BFB4E-FD72-4B88-9C3A-ED0B14198BEA}">
      <dgm:prSet/>
      <dgm:spPr/>
      <dgm:t>
        <a:bodyPr/>
        <a:lstStyle/>
        <a:p>
          <a:r>
            <a:rPr lang="tr-TR" b="0" i="0" baseline="0" dirty="0"/>
            <a:t>Her an her yerden sıra işlemleri yapılabilmeli.</a:t>
          </a:r>
          <a:endParaRPr lang="en-US" dirty="0"/>
        </a:p>
      </dgm:t>
    </dgm:pt>
    <dgm:pt modelId="{8AF4B83C-F098-460E-AEC9-4430031D2B6B}" type="parTrans" cxnId="{7A01F839-BFEB-44D5-9D72-CB2AF2D4EB96}">
      <dgm:prSet/>
      <dgm:spPr/>
      <dgm:t>
        <a:bodyPr/>
        <a:lstStyle/>
        <a:p>
          <a:endParaRPr lang="en-US"/>
        </a:p>
      </dgm:t>
    </dgm:pt>
    <dgm:pt modelId="{B7873FE7-1279-4813-9FCE-1EF6519A2734}" type="sibTrans" cxnId="{7A01F839-BFEB-44D5-9D72-CB2AF2D4EB96}">
      <dgm:prSet/>
      <dgm:spPr/>
      <dgm:t>
        <a:bodyPr/>
        <a:lstStyle/>
        <a:p>
          <a:endParaRPr lang="en-US"/>
        </a:p>
      </dgm:t>
    </dgm:pt>
    <dgm:pt modelId="{AE79DCBC-2EF4-4C68-8607-1516FCD2655F}">
      <dgm:prSet/>
      <dgm:spPr/>
      <dgm:t>
        <a:bodyPr/>
        <a:lstStyle/>
        <a:p>
          <a:r>
            <a:rPr lang="tr-TR" b="0" i="0" baseline="0" dirty="0"/>
            <a:t>Kullanıcı dostu ve sade arayüz.</a:t>
          </a:r>
          <a:endParaRPr lang="en-US" dirty="0"/>
        </a:p>
      </dgm:t>
    </dgm:pt>
    <dgm:pt modelId="{4A62D93A-7063-4966-BCF5-55AA99C49417}" type="parTrans" cxnId="{69A4C5B4-DD37-48AC-AC28-E727C4FA5964}">
      <dgm:prSet/>
      <dgm:spPr/>
      <dgm:t>
        <a:bodyPr/>
        <a:lstStyle/>
        <a:p>
          <a:endParaRPr lang="en-US"/>
        </a:p>
      </dgm:t>
    </dgm:pt>
    <dgm:pt modelId="{524F159C-2651-4FB0-A2F8-7B4D5B870967}" type="sibTrans" cxnId="{69A4C5B4-DD37-48AC-AC28-E727C4FA5964}">
      <dgm:prSet/>
      <dgm:spPr/>
      <dgm:t>
        <a:bodyPr/>
        <a:lstStyle/>
        <a:p>
          <a:endParaRPr lang="en-US"/>
        </a:p>
      </dgm:t>
    </dgm:pt>
    <dgm:pt modelId="{4E4BC444-5CEF-4AA6-9CEA-457C041FED6A}" type="pres">
      <dgm:prSet presAssocID="{3BCC1C9F-66CD-4585-802D-1417E7925D06}" presName="diagram" presStyleCnt="0">
        <dgm:presLayoutVars>
          <dgm:dir/>
          <dgm:resizeHandles val="exact"/>
        </dgm:presLayoutVars>
      </dgm:prSet>
      <dgm:spPr/>
    </dgm:pt>
    <dgm:pt modelId="{F9BAEC01-5790-4876-8A77-2D84CA0F159A}" type="pres">
      <dgm:prSet presAssocID="{D564DEED-7162-46A4-814E-9AF2A95ED6DD}" presName="node" presStyleLbl="node1" presStyleIdx="0" presStyleCnt="6">
        <dgm:presLayoutVars>
          <dgm:bulletEnabled val="1"/>
        </dgm:presLayoutVars>
      </dgm:prSet>
      <dgm:spPr/>
    </dgm:pt>
    <dgm:pt modelId="{FDD1EA56-5D90-4FEE-A4C0-47AC98A65204}" type="pres">
      <dgm:prSet presAssocID="{26C621C1-55C5-4A62-BEF5-E84C71FD3BF6}" presName="sibTrans" presStyleCnt="0"/>
      <dgm:spPr/>
    </dgm:pt>
    <dgm:pt modelId="{ECA5D9C5-F7EB-4EF1-8D3F-E6889B5FD041}" type="pres">
      <dgm:prSet presAssocID="{473CF103-C8FE-45AD-9B11-954B320AAC9B}" presName="node" presStyleLbl="node1" presStyleIdx="1" presStyleCnt="6">
        <dgm:presLayoutVars>
          <dgm:bulletEnabled val="1"/>
        </dgm:presLayoutVars>
      </dgm:prSet>
      <dgm:spPr/>
    </dgm:pt>
    <dgm:pt modelId="{3AE4DAAE-F7F8-47C8-8B6C-5E187CB14CBC}" type="pres">
      <dgm:prSet presAssocID="{4B11732F-12B1-4FF6-82D6-E2C9E22E835E}" presName="sibTrans" presStyleCnt="0"/>
      <dgm:spPr/>
    </dgm:pt>
    <dgm:pt modelId="{9886CC6B-7E06-41DA-A291-A8EC1A15B7F7}" type="pres">
      <dgm:prSet presAssocID="{307E6CA4-F6DD-497C-AA76-3E81CD23D86A}" presName="node" presStyleLbl="node1" presStyleIdx="2" presStyleCnt="6">
        <dgm:presLayoutVars>
          <dgm:bulletEnabled val="1"/>
        </dgm:presLayoutVars>
      </dgm:prSet>
      <dgm:spPr/>
    </dgm:pt>
    <dgm:pt modelId="{95744B06-6744-4F6C-8BFC-DC84D5A5B7BF}" type="pres">
      <dgm:prSet presAssocID="{59AC2D70-7083-46FC-924B-C5F2A2A35D88}" presName="sibTrans" presStyleCnt="0"/>
      <dgm:spPr/>
    </dgm:pt>
    <dgm:pt modelId="{A9759E47-54AD-4847-8739-8CC322E77505}" type="pres">
      <dgm:prSet presAssocID="{E73DB51C-1BAA-4954-9DDD-07E7B52F7DEB}" presName="node" presStyleLbl="node1" presStyleIdx="3" presStyleCnt="6">
        <dgm:presLayoutVars>
          <dgm:bulletEnabled val="1"/>
        </dgm:presLayoutVars>
      </dgm:prSet>
      <dgm:spPr/>
    </dgm:pt>
    <dgm:pt modelId="{AC949FB0-D77C-4307-9F4F-0D9C9ED45823}" type="pres">
      <dgm:prSet presAssocID="{D7BA5AEF-DB21-4E89-B199-E66AF9A771E1}" presName="sibTrans" presStyleCnt="0"/>
      <dgm:spPr/>
    </dgm:pt>
    <dgm:pt modelId="{3358F555-512C-478C-8F11-B61406CD7E84}" type="pres">
      <dgm:prSet presAssocID="{3B1BFB4E-FD72-4B88-9C3A-ED0B14198BEA}" presName="node" presStyleLbl="node1" presStyleIdx="4" presStyleCnt="6">
        <dgm:presLayoutVars>
          <dgm:bulletEnabled val="1"/>
        </dgm:presLayoutVars>
      </dgm:prSet>
      <dgm:spPr/>
    </dgm:pt>
    <dgm:pt modelId="{D6E5F24C-86FA-4359-8FCA-DA88A84276DB}" type="pres">
      <dgm:prSet presAssocID="{B7873FE7-1279-4813-9FCE-1EF6519A2734}" presName="sibTrans" presStyleCnt="0"/>
      <dgm:spPr/>
    </dgm:pt>
    <dgm:pt modelId="{B7596D90-8118-4978-8DC4-067F8B1077AF}" type="pres">
      <dgm:prSet presAssocID="{AE79DCBC-2EF4-4C68-8607-1516FCD2655F}" presName="node" presStyleLbl="node1" presStyleIdx="5" presStyleCnt="6">
        <dgm:presLayoutVars>
          <dgm:bulletEnabled val="1"/>
        </dgm:presLayoutVars>
      </dgm:prSet>
      <dgm:spPr/>
    </dgm:pt>
  </dgm:ptLst>
  <dgm:cxnLst>
    <dgm:cxn modelId="{0E8F1C01-25AD-451C-8EA2-3E6F4FE8D5B8}" srcId="{3BCC1C9F-66CD-4585-802D-1417E7925D06}" destId="{473CF103-C8FE-45AD-9B11-954B320AAC9B}" srcOrd="1" destOrd="0" parTransId="{6F3EC084-3CB8-44BD-86F2-45F845B3AB75}" sibTransId="{4B11732F-12B1-4FF6-82D6-E2C9E22E835E}"/>
    <dgm:cxn modelId="{17A4DB1E-06F8-4EF3-95E4-30DB4F1630CA}" type="presOf" srcId="{3BCC1C9F-66CD-4585-802D-1417E7925D06}" destId="{4E4BC444-5CEF-4AA6-9CEA-457C041FED6A}" srcOrd="0" destOrd="0" presId="urn:microsoft.com/office/officeart/2005/8/layout/default"/>
    <dgm:cxn modelId="{33308C23-298B-4098-927A-434B5006A37A}" type="presOf" srcId="{3B1BFB4E-FD72-4B88-9C3A-ED0B14198BEA}" destId="{3358F555-512C-478C-8F11-B61406CD7E84}" srcOrd="0" destOrd="0" presId="urn:microsoft.com/office/officeart/2005/8/layout/default"/>
    <dgm:cxn modelId="{7A01F839-BFEB-44D5-9D72-CB2AF2D4EB96}" srcId="{3BCC1C9F-66CD-4585-802D-1417E7925D06}" destId="{3B1BFB4E-FD72-4B88-9C3A-ED0B14198BEA}" srcOrd="4" destOrd="0" parTransId="{8AF4B83C-F098-460E-AEC9-4430031D2B6B}" sibTransId="{B7873FE7-1279-4813-9FCE-1EF6519A2734}"/>
    <dgm:cxn modelId="{503B8145-D3C2-4949-A372-622B44B8FDF4}" type="presOf" srcId="{E73DB51C-1BAA-4954-9DDD-07E7B52F7DEB}" destId="{A9759E47-54AD-4847-8739-8CC322E77505}" srcOrd="0" destOrd="0" presId="urn:microsoft.com/office/officeart/2005/8/layout/default"/>
    <dgm:cxn modelId="{D509F58E-3F86-4FF5-8E5B-6B6213661704}" srcId="{3BCC1C9F-66CD-4585-802D-1417E7925D06}" destId="{E73DB51C-1BAA-4954-9DDD-07E7B52F7DEB}" srcOrd="3" destOrd="0" parTransId="{63BD7C64-2DFE-4FF1-89BD-E44D2151C8E4}" sibTransId="{D7BA5AEF-DB21-4E89-B199-E66AF9A771E1}"/>
    <dgm:cxn modelId="{377E9F9C-7A71-4C39-B457-48B58EA7D589}" type="presOf" srcId="{D564DEED-7162-46A4-814E-9AF2A95ED6DD}" destId="{F9BAEC01-5790-4876-8A77-2D84CA0F159A}" srcOrd="0" destOrd="0" presId="urn:microsoft.com/office/officeart/2005/8/layout/default"/>
    <dgm:cxn modelId="{42EC039F-0206-47D7-AA08-F9B8825A682F}" srcId="{3BCC1C9F-66CD-4585-802D-1417E7925D06}" destId="{307E6CA4-F6DD-497C-AA76-3E81CD23D86A}" srcOrd="2" destOrd="0" parTransId="{E909CD5C-6664-408A-B19E-DC8D1D26A04D}" sibTransId="{59AC2D70-7083-46FC-924B-C5F2A2A35D88}"/>
    <dgm:cxn modelId="{69A4C5B4-DD37-48AC-AC28-E727C4FA5964}" srcId="{3BCC1C9F-66CD-4585-802D-1417E7925D06}" destId="{AE79DCBC-2EF4-4C68-8607-1516FCD2655F}" srcOrd="5" destOrd="0" parTransId="{4A62D93A-7063-4966-BCF5-55AA99C49417}" sibTransId="{524F159C-2651-4FB0-A2F8-7B4D5B870967}"/>
    <dgm:cxn modelId="{DE53E8C3-8A59-451F-9C95-EF85E24A926C}" type="presOf" srcId="{AE79DCBC-2EF4-4C68-8607-1516FCD2655F}" destId="{B7596D90-8118-4978-8DC4-067F8B1077AF}" srcOrd="0" destOrd="0" presId="urn:microsoft.com/office/officeart/2005/8/layout/default"/>
    <dgm:cxn modelId="{5A3FA1C8-9AAF-4809-ADDF-973A434E34F6}" type="presOf" srcId="{307E6CA4-F6DD-497C-AA76-3E81CD23D86A}" destId="{9886CC6B-7E06-41DA-A291-A8EC1A15B7F7}" srcOrd="0" destOrd="0" presId="urn:microsoft.com/office/officeart/2005/8/layout/default"/>
    <dgm:cxn modelId="{16118AC9-C509-4942-ADFC-A605520C375A}" type="presOf" srcId="{473CF103-C8FE-45AD-9B11-954B320AAC9B}" destId="{ECA5D9C5-F7EB-4EF1-8D3F-E6889B5FD041}" srcOrd="0" destOrd="0" presId="urn:microsoft.com/office/officeart/2005/8/layout/default"/>
    <dgm:cxn modelId="{25C09DCD-DD8B-49E8-BF97-A2C6DB404C48}" srcId="{3BCC1C9F-66CD-4585-802D-1417E7925D06}" destId="{D564DEED-7162-46A4-814E-9AF2A95ED6DD}" srcOrd="0" destOrd="0" parTransId="{1DEF1B14-F3CF-4E6A-9CA5-AD8959F8A260}" sibTransId="{26C621C1-55C5-4A62-BEF5-E84C71FD3BF6}"/>
    <dgm:cxn modelId="{D3C1D95C-E57B-4407-8CCA-4572EED0A436}" type="presParOf" srcId="{4E4BC444-5CEF-4AA6-9CEA-457C041FED6A}" destId="{F9BAEC01-5790-4876-8A77-2D84CA0F159A}" srcOrd="0" destOrd="0" presId="urn:microsoft.com/office/officeart/2005/8/layout/default"/>
    <dgm:cxn modelId="{5A18CD45-8115-4B49-BA62-AAC383D89019}" type="presParOf" srcId="{4E4BC444-5CEF-4AA6-9CEA-457C041FED6A}" destId="{FDD1EA56-5D90-4FEE-A4C0-47AC98A65204}" srcOrd="1" destOrd="0" presId="urn:microsoft.com/office/officeart/2005/8/layout/default"/>
    <dgm:cxn modelId="{973C6FB5-25E5-4D90-882B-0640DCAF51DB}" type="presParOf" srcId="{4E4BC444-5CEF-4AA6-9CEA-457C041FED6A}" destId="{ECA5D9C5-F7EB-4EF1-8D3F-E6889B5FD041}" srcOrd="2" destOrd="0" presId="urn:microsoft.com/office/officeart/2005/8/layout/default"/>
    <dgm:cxn modelId="{2DC62A6C-D2B9-45C7-B2A5-DFC589CCEFF2}" type="presParOf" srcId="{4E4BC444-5CEF-4AA6-9CEA-457C041FED6A}" destId="{3AE4DAAE-F7F8-47C8-8B6C-5E187CB14CBC}" srcOrd="3" destOrd="0" presId="urn:microsoft.com/office/officeart/2005/8/layout/default"/>
    <dgm:cxn modelId="{C9CAC1BE-4910-4111-BEDB-B4536307C5B2}" type="presParOf" srcId="{4E4BC444-5CEF-4AA6-9CEA-457C041FED6A}" destId="{9886CC6B-7E06-41DA-A291-A8EC1A15B7F7}" srcOrd="4" destOrd="0" presId="urn:microsoft.com/office/officeart/2005/8/layout/default"/>
    <dgm:cxn modelId="{292260BB-D382-4C68-A044-19B5A7BAA5D7}" type="presParOf" srcId="{4E4BC444-5CEF-4AA6-9CEA-457C041FED6A}" destId="{95744B06-6744-4F6C-8BFC-DC84D5A5B7BF}" srcOrd="5" destOrd="0" presId="urn:microsoft.com/office/officeart/2005/8/layout/default"/>
    <dgm:cxn modelId="{4B91AAD1-1F3E-47DA-9DC2-7BAC6C54FAD3}" type="presParOf" srcId="{4E4BC444-5CEF-4AA6-9CEA-457C041FED6A}" destId="{A9759E47-54AD-4847-8739-8CC322E77505}" srcOrd="6" destOrd="0" presId="urn:microsoft.com/office/officeart/2005/8/layout/default"/>
    <dgm:cxn modelId="{415E72D3-4AB3-4E81-9EEB-5FCE3D9F5C01}" type="presParOf" srcId="{4E4BC444-5CEF-4AA6-9CEA-457C041FED6A}" destId="{AC949FB0-D77C-4307-9F4F-0D9C9ED45823}" srcOrd="7" destOrd="0" presId="urn:microsoft.com/office/officeart/2005/8/layout/default"/>
    <dgm:cxn modelId="{292027A8-6984-4F39-9102-7AB52281B317}" type="presParOf" srcId="{4E4BC444-5CEF-4AA6-9CEA-457C041FED6A}" destId="{3358F555-512C-478C-8F11-B61406CD7E84}" srcOrd="8" destOrd="0" presId="urn:microsoft.com/office/officeart/2005/8/layout/default"/>
    <dgm:cxn modelId="{E16BB4F2-923F-4A6F-A674-EA600DD49E67}" type="presParOf" srcId="{4E4BC444-5CEF-4AA6-9CEA-457C041FED6A}" destId="{D6E5F24C-86FA-4359-8FCA-DA88A84276DB}" srcOrd="9" destOrd="0" presId="urn:microsoft.com/office/officeart/2005/8/layout/default"/>
    <dgm:cxn modelId="{9BABCA96-2BC6-4AE9-AB12-0BD285921F4A}" type="presParOf" srcId="{4E4BC444-5CEF-4AA6-9CEA-457C041FED6A}" destId="{B7596D90-8118-4978-8DC4-067F8B1077A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EC01-5790-4876-8A77-2D84CA0F159A}">
      <dsp:nvSpPr>
        <dsp:cNvPr id="0" name=""/>
        <dsp:cNvSpPr/>
      </dsp:nvSpPr>
      <dsp:spPr>
        <a:xfrm>
          <a:off x="0" y="36272"/>
          <a:ext cx="2145982" cy="1287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0" i="0" kern="1200" baseline="0"/>
            <a:t>Öğrenci randevu oluşturabilmeli ve iptal edebilmeli.</a:t>
          </a:r>
          <a:endParaRPr lang="en-US" sz="1700" kern="1200"/>
        </a:p>
      </dsp:txBody>
      <dsp:txXfrm>
        <a:off x="0" y="36272"/>
        <a:ext cx="2145982" cy="1287589"/>
      </dsp:txXfrm>
    </dsp:sp>
    <dsp:sp modelId="{ECA5D9C5-F7EB-4EF1-8D3F-E6889B5FD041}">
      <dsp:nvSpPr>
        <dsp:cNvPr id="0" name=""/>
        <dsp:cNvSpPr/>
      </dsp:nvSpPr>
      <dsp:spPr>
        <a:xfrm>
          <a:off x="2360580" y="36272"/>
          <a:ext cx="2145982" cy="1287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0" i="0" kern="1200" baseline="0"/>
            <a:t>Sistem, gelmeyen öğrenciye otomatik ceza puanı atamalı.</a:t>
          </a:r>
          <a:endParaRPr lang="en-US" sz="1700" kern="1200"/>
        </a:p>
      </dsp:txBody>
      <dsp:txXfrm>
        <a:off x="2360580" y="36272"/>
        <a:ext cx="2145982" cy="1287589"/>
      </dsp:txXfrm>
    </dsp:sp>
    <dsp:sp modelId="{9886CC6B-7E06-41DA-A291-A8EC1A15B7F7}">
      <dsp:nvSpPr>
        <dsp:cNvPr id="0" name=""/>
        <dsp:cNvSpPr/>
      </dsp:nvSpPr>
      <dsp:spPr>
        <a:xfrm>
          <a:off x="4721161" y="36272"/>
          <a:ext cx="2145982" cy="1287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0" i="0" kern="1200" baseline="0" dirty="0"/>
            <a:t>Yöneticiler arızalı makineleri sistemden randevuya  kapatabilmeli.</a:t>
          </a:r>
          <a:endParaRPr lang="en-US" sz="1700" kern="1200" dirty="0"/>
        </a:p>
      </dsp:txBody>
      <dsp:txXfrm>
        <a:off x="4721161" y="36272"/>
        <a:ext cx="2145982" cy="1287589"/>
      </dsp:txXfrm>
    </dsp:sp>
    <dsp:sp modelId="{A9759E47-54AD-4847-8739-8CC322E77505}">
      <dsp:nvSpPr>
        <dsp:cNvPr id="0" name=""/>
        <dsp:cNvSpPr/>
      </dsp:nvSpPr>
      <dsp:spPr>
        <a:xfrm>
          <a:off x="0" y="1538460"/>
          <a:ext cx="2145982" cy="1287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Süreç düzgün takip edilebilmeli.</a:t>
          </a:r>
          <a:endParaRPr lang="en-US" sz="1700" kern="1200" dirty="0"/>
        </a:p>
      </dsp:txBody>
      <dsp:txXfrm>
        <a:off x="0" y="1538460"/>
        <a:ext cx="2145982" cy="1287589"/>
      </dsp:txXfrm>
    </dsp:sp>
    <dsp:sp modelId="{3358F555-512C-478C-8F11-B61406CD7E84}">
      <dsp:nvSpPr>
        <dsp:cNvPr id="0" name=""/>
        <dsp:cNvSpPr/>
      </dsp:nvSpPr>
      <dsp:spPr>
        <a:xfrm>
          <a:off x="2360580" y="1538460"/>
          <a:ext cx="2145982" cy="1287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0" i="0" kern="1200" baseline="0" dirty="0"/>
            <a:t>Her an her yerden sıra işlemleri yapılabilmeli.</a:t>
          </a:r>
          <a:endParaRPr lang="en-US" sz="1700" kern="1200" dirty="0"/>
        </a:p>
      </dsp:txBody>
      <dsp:txXfrm>
        <a:off x="2360580" y="1538460"/>
        <a:ext cx="2145982" cy="1287589"/>
      </dsp:txXfrm>
    </dsp:sp>
    <dsp:sp modelId="{B7596D90-8118-4978-8DC4-067F8B1077AF}">
      <dsp:nvSpPr>
        <dsp:cNvPr id="0" name=""/>
        <dsp:cNvSpPr/>
      </dsp:nvSpPr>
      <dsp:spPr>
        <a:xfrm>
          <a:off x="4721161" y="1538460"/>
          <a:ext cx="2145982" cy="1287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0" i="0" kern="1200" baseline="0" dirty="0"/>
            <a:t>Kullanıcı dostu ve sade arayüz.</a:t>
          </a:r>
          <a:endParaRPr lang="en-US" sz="1700" kern="1200" dirty="0"/>
        </a:p>
      </dsp:txBody>
      <dsp:txXfrm>
        <a:off x="4721161" y="1538460"/>
        <a:ext cx="2145982" cy="1287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79127-DDCD-4C42-8F31-7B006B8CF9AD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9996E-A7D5-4077-B844-CBAB83624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585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9996E-A7D5-4077-B844-CBAB83624A30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5188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D4691C-9E47-D50A-6296-4E8F4E83D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3DAA2CB-F347-BCFE-6EF1-F315F860D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B05417F-DB1C-BA6C-DC58-D7FD87544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32F9EFF-1879-1E8A-FC63-4A17E53B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081E4D-663D-A9DB-DAD9-53E1C270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0223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7B4327-14E4-C79E-140A-E773B139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2DF57D0-770E-3070-D1CB-263DBF253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DE6919-687B-2681-0888-E1935605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0B56EE9-ACA8-E907-372D-E4C1EEBA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6092F2-E09B-0A97-6360-7107E204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6508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2D569C-776D-6236-7B65-05E408BB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0D57E8B-7225-1F53-4A67-BDB78B242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C5B34E-8AC3-5FCD-C6E6-0744A2DF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35C307-5961-6AAA-0105-53290D3E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694DB8-6B06-183E-0C11-3D09E7C9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190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0A717D-A4DC-4A74-566D-2909D310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468E26-2663-A9C1-14EE-6DF775133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CB9DF82-E65B-5C3E-3DC2-3989484A7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490EA67-5851-AA82-5097-206081816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A360637-D70C-F683-505F-514BE98A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D4B8F46-AD64-0EB7-3A89-52A967B8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6984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17CFA1-0981-A161-6F54-659D6831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E732EB3-F3D9-1BA6-7563-8C1AFAB38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842ACB8-7867-297A-3452-5F3183291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99665B5-3063-6049-4EAB-077E96670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8962081-AD35-A76F-2D44-439C51B84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90EA3DF-A5D3-F279-1B34-E1A7419C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472CB039-4E93-FD1B-06C8-F1A0CA3D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F86D129-6D1F-65AF-6377-AF8EC264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281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4AB25F-3B88-D5B3-3FFD-A0211FDB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2A736AA-C7E6-6864-D94E-AE11B1B6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EB89271-968D-3202-1D3F-A2F4D95B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D223212-B0B2-0E20-9B88-EB95F021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8687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17409BC-1CC3-FBB6-812D-C0646D53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4D7A831-B944-1618-ECC9-E5176940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6D4A4DD-3923-E8C7-0979-BD82006A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87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B6FED1-C88D-1CAA-1943-F0A187ADB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EF830F-0C5F-8346-3024-033BAC2C2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C4A1B4D-5B9C-6D7A-C5F3-8FEB30F35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D0A32A3-8212-6C29-55D0-BB8A8193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FE2C16B-87CC-3D17-2E11-81EF99F69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0FB470A-EA68-6A3D-ED35-D55C568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4246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EE7561-940F-8AC0-A9A0-01C5A855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1A47A04-3A40-BC52-26EC-004DA26A9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E83AB50-EAB1-7873-3E68-83D59280C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75E7AC9-CA9F-4273-33DC-3452A3D2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D066F0-5F30-93B9-DCEF-7922D8AE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80CE9D2-4192-657B-56EA-EFE92BE2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9590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665C15-BEA8-588C-03E6-23DE03AF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09FA0DD-AC97-37B2-709F-057E845BF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BF0F12C-E0CD-1951-6E8A-31FE5DD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959156-B276-5F5D-9D97-DED92559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CE5474-EFD1-0207-48DE-2286A5D6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0311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3E1B258-68A1-12D0-412C-DBEC05FE6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FD01ABD-DE71-1470-BA46-94C440A84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7EA4EE4-FAE0-8870-CE7B-CBA8D1AB9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339D16-7C52-CBB0-A864-772DA2D6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9D1033-837A-453B-A65D-62980AF4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412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8636375-64CC-6CA7-EA12-C655D997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B1699A4-64DE-E8AA-9046-B8A25D32B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B7363E-41ED-5784-50A1-FE7E4F9B3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97424-AF07-4E28-B165-17D748A15D1B}" type="datetimeFigureOut">
              <a:rPr lang="tr-TR" smtClean="0"/>
              <a:t>27.12.2025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E0D4D3-52BD-4370-BAD1-205C8E0E1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1726DAE-7923-5CCF-8F5D-473F48569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02CBB-BAFA-4174-AB1D-3A051FE4E2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772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.png"/><Relationship Id="rId4" Type="http://schemas.openxmlformats.org/officeDocument/2006/relationships/image" Target="../media/image33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3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1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0.png"/><Relationship Id="rId4" Type="http://schemas.openxmlformats.org/officeDocument/2006/relationships/image" Target="../media/image46.png"/><Relationship Id="rId9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3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31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1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30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0.png"/><Relationship Id="rId7" Type="http://schemas.openxmlformats.org/officeDocument/2006/relationships/image" Target="../media/image3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30.png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İçerik Yer Tutucusu 11" descr="metin, logo, simge, sembol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45A568E-1ECA-661F-650C-842AEA00C5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0544" y="5905500"/>
            <a:ext cx="850392" cy="850392"/>
          </a:xfrm>
        </p:spPr>
      </p:pic>
      <p:pic>
        <p:nvPicPr>
          <p:cNvPr id="10" name="İçerik Yer Tutucusu 9" descr="metin, ekran görüntüsü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AF29D8A-4ABE-E8DC-4E19-5832746664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995AF9B9-266C-687E-E1D3-C260CA59BBAB}"/>
              </a:ext>
            </a:extLst>
          </p:cNvPr>
          <p:cNvSpPr txBox="1"/>
          <p:nvPr/>
        </p:nvSpPr>
        <p:spPr>
          <a:xfrm>
            <a:off x="6701028" y="393192"/>
            <a:ext cx="5097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SİSTEM ANALİZİ VE TASARIMI PROJESİ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1250017C-740F-6048-DF8D-1ED51ACC4E01}"/>
              </a:ext>
            </a:extLst>
          </p:cNvPr>
          <p:cNvSpPr txBox="1"/>
          <p:nvPr/>
        </p:nvSpPr>
        <p:spPr>
          <a:xfrm>
            <a:off x="8160258" y="762524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/>
              <a:t>2025-2026 Güz Dönemi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05686AD6-ABE8-3730-7EFA-7600A67186A0}"/>
              </a:ext>
            </a:extLst>
          </p:cNvPr>
          <p:cNvSpPr txBox="1"/>
          <p:nvPr/>
        </p:nvSpPr>
        <p:spPr>
          <a:xfrm>
            <a:off x="7129272" y="2207282"/>
            <a:ext cx="40782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>
                <a:latin typeface="Arial" panose="020B0604020202020204" pitchFamily="34" charset="0"/>
              </a:rPr>
              <a:t>Hazırlayanlar :</a:t>
            </a: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latin typeface="Arial" panose="020B0604020202020204" pitchFamily="34" charset="0"/>
              </a:rPr>
              <a:t>Zeynep ERDEM 23220026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latin typeface="Arial" panose="020B0604020202020204" pitchFamily="34" charset="0"/>
              </a:rPr>
              <a:t>Alperen KAMBER 23219025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>
                <a:latin typeface="Arial" panose="020B0604020202020204" pitchFamily="34" charset="0"/>
              </a:rPr>
              <a:t>Dersi Veren :</a:t>
            </a: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latin typeface="Arial" panose="020B0604020202020204" pitchFamily="34" charset="0"/>
              </a:rPr>
              <a:t>Dr. Öğr. Üyesi Leyla ÖZGÜR POLAT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endParaRPr lang="tr-TR" dirty="0"/>
          </a:p>
        </p:txBody>
      </p:sp>
      <p:pic>
        <p:nvPicPr>
          <p:cNvPr id="24" name="Resim 23" descr="daire, amblem, logo, yuvarla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1D5E7F0-DD96-D8CE-1C57-02494388E1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40" y="5905500"/>
            <a:ext cx="850392" cy="850392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361E227D-ECC9-0A96-CDCC-BC33E70CEAEE}"/>
              </a:ext>
            </a:extLst>
          </p:cNvPr>
          <p:cNvSpPr txBox="1"/>
          <p:nvPr/>
        </p:nvSpPr>
        <p:spPr>
          <a:xfrm>
            <a:off x="1384300" y="4908296"/>
            <a:ext cx="7127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B3CAD1"/>
                </a:solidFill>
                <a:latin typeface="Amasis MT Pro Black" panose="02040A04050005020304" pitchFamily="18" charset="-94"/>
              </a:rPr>
              <a:t>Kaosu Düzenle, Zamanı Yönet</a:t>
            </a:r>
          </a:p>
          <a:p>
            <a:endParaRPr lang="tr-TR" dirty="0">
              <a:solidFill>
                <a:srgbClr val="B3CAD1"/>
              </a:solidFill>
              <a:latin typeface="Amasis MT Pro Black" panose="02040A04050005020304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705287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C2835A3-4737-BAA4-26EA-70F4F50A94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48" r="85660"/>
          <a:stretch>
            <a:fillRect/>
          </a:stretch>
        </p:blipFill>
        <p:spPr>
          <a:xfrm>
            <a:off x="0" y="0"/>
            <a:ext cx="5815584" cy="6858000"/>
          </a:xfr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5B9E65D2-14DE-4A11-6C74-D345BB2E8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83"/>
          <a:stretch>
            <a:fillRect/>
          </a:stretch>
        </p:blipFill>
        <p:spPr>
          <a:xfrm>
            <a:off x="2627674" y="256032"/>
            <a:ext cx="2164268" cy="2223757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6008DB59-5A68-9106-2B04-356FF157F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53"/>
          <a:stretch>
            <a:fillRect/>
          </a:stretch>
        </p:blipFill>
        <p:spPr>
          <a:xfrm>
            <a:off x="351586" y="3405863"/>
            <a:ext cx="1897544" cy="2777924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78CED205-E885-24E6-1DDA-4531B0A355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60"/>
          <a:stretch>
            <a:fillRect/>
          </a:stretch>
        </p:blipFill>
        <p:spPr>
          <a:xfrm>
            <a:off x="2627674" y="4507495"/>
            <a:ext cx="2164268" cy="1676292"/>
          </a:xfrm>
          <a:prstGeom prst="rect">
            <a:avLst/>
          </a:prstGeom>
        </p:spPr>
      </p:pic>
      <p:pic>
        <p:nvPicPr>
          <p:cNvPr id="32" name="Resim 31">
            <a:extLst>
              <a:ext uri="{FF2B5EF4-FFF2-40B4-BE49-F238E27FC236}">
                <a16:creationId xmlns:a16="http://schemas.microsoft.com/office/drawing/2014/main" id="{31D920C0-9D30-4D61-B341-F8750345E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5"/>
          <a:stretch>
            <a:fillRect/>
          </a:stretch>
        </p:blipFill>
        <p:spPr>
          <a:xfrm>
            <a:off x="2627675" y="2615452"/>
            <a:ext cx="2164267" cy="1768051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107D5EFC-04AD-8B2B-ABFE-40DABA4E92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86" y="256032"/>
            <a:ext cx="1897544" cy="3025402"/>
          </a:xfrm>
          <a:prstGeom prst="rect">
            <a:avLst/>
          </a:prstGeom>
        </p:spPr>
      </p:pic>
      <p:cxnSp>
        <p:nvCxnSpPr>
          <p:cNvPr id="34" name="Düz Bağlayıcı 33">
            <a:extLst>
              <a:ext uri="{FF2B5EF4-FFF2-40B4-BE49-F238E27FC236}">
                <a16:creationId xmlns:a16="http://schemas.microsoft.com/office/drawing/2014/main" id="{7F2277A9-28D8-80B5-0CD5-F14CAC892D31}"/>
              </a:ext>
            </a:extLst>
          </p:cNvPr>
          <p:cNvCxnSpPr>
            <a:cxnSpLocks/>
          </p:cNvCxnSpPr>
          <p:nvPr/>
        </p:nvCxnSpPr>
        <p:spPr>
          <a:xfrm>
            <a:off x="351586" y="3405863"/>
            <a:ext cx="191428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üz Bağlayıcı 34">
            <a:extLst>
              <a:ext uri="{FF2B5EF4-FFF2-40B4-BE49-F238E27FC236}">
                <a16:creationId xmlns:a16="http://schemas.microsoft.com/office/drawing/2014/main" id="{A88051F4-320A-B956-A9E5-9184026D4E01}"/>
              </a:ext>
            </a:extLst>
          </p:cNvPr>
          <p:cNvCxnSpPr>
            <a:cxnSpLocks/>
          </p:cNvCxnSpPr>
          <p:nvPr/>
        </p:nvCxnSpPr>
        <p:spPr>
          <a:xfrm>
            <a:off x="351586" y="3281434"/>
            <a:ext cx="191428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üz Bağlayıcı 35">
            <a:extLst>
              <a:ext uri="{FF2B5EF4-FFF2-40B4-BE49-F238E27FC236}">
                <a16:creationId xmlns:a16="http://schemas.microsoft.com/office/drawing/2014/main" id="{699159B8-AC6B-A350-3632-75A51EDBEABF}"/>
              </a:ext>
            </a:extLst>
          </p:cNvPr>
          <p:cNvCxnSpPr>
            <a:cxnSpLocks/>
          </p:cNvCxnSpPr>
          <p:nvPr/>
        </p:nvCxnSpPr>
        <p:spPr>
          <a:xfrm>
            <a:off x="2627674" y="2479789"/>
            <a:ext cx="216426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Düz Bağlayıcı 36">
            <a:extLst>
              <a:ext uri="{FF2B5EF4-FFF2-40B4-BE49-F238E27FC236}">
                <a16:creationId xmlns:a16="http://schemas.microsoft.com/office/drawing/2014/main" id="{098AA9B9-CD0C-8069-7DB7-60EA07E73F03}"/>
              </a:ext>
            </a:extLst>
          </p:cNvPr>
          <p:cNvCxnSpPr>
            <a:cxnSpLocks/>
          </p:cNvCxnSpPr>
          <p:nvPr/>
        </p:nvCxnSpPr>
        <p:spPr>
          <a:xfrm>
            <a:off x="2627674" y="2615452"/>
            <a:ext cx="216426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üz Bağlayıcı 37">
            <a:extLst>
              <a:ext uri="{FF2B5EF4-FFF2-40B4-BE49-F238E27FC236}">
                <a16:creationId xmlns:a16="http://schemas.microsoft.com/office/drawing/2014/main" id="{23E14DFF-3F71-B2A6-89F7-6C48991FD4B8}"/>
              </a:ext>
            </a:extLst>
          </p:cNvPr>
          <p:cNvCxnSpPr>
            <a:cxnSpLocks/>
          </p:cNvCxnSpPr>
          <p:nvPr/>
        </p:nvCxnSpPr>
        <p:spPr>
          <a:xfrm>
            <a:off x="2627674" y="4383503"/>
            <a:ext cx="216426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üz Bağlayıcı 38">
            <a:extLst>
              <a:ext uri="{FF2B5EF4-FFF2-40B4-BE49-F238E27FC236}">
                <a16:creationId xmlns:a16="http://schemas.microsoft.com/office/drawing/2014/main" id="{0C6E3A94-1899-7ADA-FE39-DC8EDBADEF62}"/>
              </a:ext>
            </a:extLst>
          </p:cNvPr>
          <p:cNvCxnSpPr>
            <a:cxnSpLocks/>
          </p:cNvCxnSpPr>
          <p:nvPr/>
        </p:nvCxnSpPr>
        <p:spPr>
          <a:xfrm>
            <a:off x="2627674" y="4514791"/>
            <a:ext cx="216426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üz Bağlayıcı 39">
            <a:extLst>
              <a:ext uri="{FF2B5EF4-FFF2-40B4-BE49-F238E27FC236}">
                <a16:creationId xmlns:a16="http://schemas.microsoft.com/office/drawing/2014/main" id="{18B2CFD7-9C82-BA02-7143-D33053775F0C}"/>
              </a:ext>
            </a:extLst>
          </p:cNvPr>
          <p:cNvCxnSpPr>
            <a:cxnSpLocks/>
          </p:cNvCxnSpPr>
          <p:nvPr/>
        </p:nvCxnSpPr>
        <p:spPr>
          <a:xfrm>
            <a:off x="2627674" y="6167934"/>
            <a:ext cx="216426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üz Bağlayıcı 40">
            <a:extLst>
              <a:ext uri="{FF2B5EF4-FFF2-40B4-BE49-F238E27FC236}">
                <a16:creationId xmlns:a16="http://schemas.microsoft.com/office/drawing/2014/main" id="{62728D29-CF90-335F-6105-C26DAA73019D}"/>
              </a:ext>
            </a:extLst>
          </p:cNvPr>
          <p:cNvCxnSpPr>
            <a:cxnSpLocks/>
          </p:cNvCxnSpPr>
          <p:nvPr/>
        </p:nvCxnSpPr>
        <p:spPr>
          <a:xfrm>
            <a:off x="2627674" y="256032"/>
            <a:ext cx="216426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üz Bağlayıcı 41">
            <a:extLst>
              <a:ext uri="{FF2B5EF4-FFF2-40B4-BE49-F238E27FC236}">
                <a16:creationId xmlns:a16="http://schemas.microsoft.com/office/drawing/2014/main" id="{37BEDF2D-978E-4F65-8A0F-A54582C9D00D}"/>
              </a:ext>
            </a:extLst>
          </p:cNvPr>
          <p:cNvCxnSpPr>
            <a:cxnSpLocks/>
          </p:cNvCxnSpPr>
          <p:nvPr/>
        </p:nvCxnSpPr>
        <p:spPr>
          <a:xfrm>
            <a:off x="351586" y="256032"/>
            <a:ext cx="0" cy="302540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Düz Bağlayıcı 42">
            <a:extLst>
              <a:ext uri="{FF2B5EF4-FFF2-40B4-BE49-F238E27FC236}">
                <a16:creationId xmlns:a16="http://schemas.microsoft.com/office/drawing/2014/main" id="{B9FC230E-8E84-D1E1-BF13-04A0CA9D6527}"/>
              </a:ext>
            </a:extLst>
          </p:cNvPr>
          <p:cNvCxnSpPr>
            <a:cxnSpLocks/>
          </p:cNvCxnSpPr>
          <p:nvPr/>
        </p:nvCxnSpPr>
        <p:spPr>
          <a:xfrm>
            <a:off x="351586" y="256032"/>
            <a:ext cx="191428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üz Bağlayıcı 43">
            <a:extLst>
              <a:ext uri="{FF2B5EF4-FFF2-40B4-BE49-F238E27FC236}">
                <a16:creationId xmlns:a16="http://schemas.microsoft.com/office/drawing/2014/main" id="{84ADFFA2-1493-B7F9-DBA3-E8F4C49D7209}"/>
              </a:ext>
            </a:extLst>
          </p:cNvPr>
          <p:cNvCxnSpPr>
            <a:cxnSpLocks/>
          </p:cNvCxnSpPr>
          <p:nvPr/>
        </p:nvCxnSpPr>
        <p:spPr>
          <a:xfrm>
            <a:off x="2249130" y="256032"/>
            <a:ext cx="0" cy="302540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>
            <a:extLst>
              <a:ext uri="{FF2B5EF4-FFF2-40B4-BE49-F238E27FC236}">
                <a16:creationId xmlns:a16="http://schemas.microsoft.com/office/drawing/2014/main" id="{072DD132-A901-2F53-CC1A-C3C569781022}"/>
              </a:ext>
            </a:extLst>
          </p:cNvPr>
          <p:cNvCxnSpPr>
            <a:cxnSpLocks/>
          </p:cNvCxnSpPr>
          <p:nvPr/>
        </p:nvCxnSpPr>
        <p:spPr>
          <a:xfrm>
            <a:off x="351586" y="3405863"/>
            <a:ext cx="0" cy="2762071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üz Bağlayıcı 45">
            <a:extLst>
              <a:ext uri="{FF2B5EF4-FFF2-40B4-BE49-F238E27FC236}">
                <a16:creationId xmlns:a16="http://schemas.microsoft.com/office/drawing/2014/main" id="{11C23E1D-1B02-F0B7-D135-FCEDF9ED000A}"/>
              </a:ext>
            </a:extLst>
          </p:cNvPr>
          <p:cNvCxnSpPr>
            <a:cxnSpLocks/>
          </p:cNvCxnSpPr>
          <p:nvPr/>
        </p:nvCxnSpPr>
        <p:spPr>
          <a:xfrm>
            <a:off x="2249130" y="3405863"/>
            <a:ext cx="0" cy="2777924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üz Bağlayıcı 46">
            <a:extLst>
              <a:ext uri="{FF2B5EF4-FFF2-40B4-BE49-F238E27FC236}">
                <a16:creationId xmlns:a16="http://schemas.microsoft.com/office/drawing/2014/main" id="{404365D7-FAF6-263E-882F-B27517698E2E}"/>
              </a:ext>
            </a:extLst>
          </p:cNvPr>
          <p:cNvCxnSpPr>
            <a:cxnSpLocks/>
          </p:cNvCxnSpPr>
          <p:nvPr/>
        </p:nvCxnSpPr>
        <p:spPr>
          <a:xfrm>
            <a:off x="334842" y="6170539"/>
            <a:ext cx="191428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üz Bağlayıcı 47">
            <a:extLst>
              <a:ext uri="{FF2B5EF4-FFF2-40B4-BE49-F238E27FC236}">
                <a16:creationId xmlns:a16="http://schemas.microsoft.com/office/drawing/2014/main" id="{34CE36CE-B4AD-2F25-A83D-11C860BBC1B8}"/>
              </a:ext>
            </a:extLst>
          </p:cNvPr>
          <p:cNvCxnSpPr>
            <a:cxnSpLocks/>
          </p:cNvCxnSpPr>
          <p:nvPr/>
        </p:nvCxnSpPr>
        <p:spPr>
          <a:xfrm>
            <a:off x="2627674" y="4507495"/>
            <a:ext cx="0" cy="167629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Düz Bağlayıcı 48">
            <a:extLst>
              <a:ext uri="{FF2B5EF4-FFF2-40B4-BE49-F238E27FC236}">
                <a16:creationId xmlns:a16="http://schemas.microsoft.com/office/drawing/2014/main" id="{B5BFC9DE-4C57-F7EA-60BD-B9593ABB9C44}"/>
              </a:ext>
            </a:extLst>
          </p:cNvPr>
          <p:cNvCxnSpPr>
            <a:cxnSpLocks/>
          </p:cNvCxnSpPr>
          <p:nvPr/>
        </p:nvCxnSpPr>
        <p:spPr>
          <a:xfrm>
            <a:off x="4791942" y="4514791"/>
            <a:ext cx="0" cy="167629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üz Bağlayıcı 49">
            <a:extLst>
              <a:ext uri="{FF2B5EF4-FFF2-40B4-BE49-F238E27FC236}">
                <a16:creationId xmlns:a16="http://schemas.microsoft.com/office/drawing/2014/main" id="{2E8B801B-1285-7F37-E3D0-C668CDB23A41}"/>
              </a:ext>
            </a:extLst>
          </p:cNvPr>
          <p:cNvCxnSpPr>
            <a:cxnSpLocks/>
          </p:cNvCxnSpPr>
          <p:nvPr/>
        </p:nvCxnSpPr>
        <p:spPr>
          <a:xfrm>
            <a:off x="4791942" y="2615452"/>
            <a:ext cx="0" cy="1768051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Düz Bağlayıcı 50">
            <a:extLst>
              <a:ext uri="{FF2B5EF4-FFF2-40B4-BE49-F238E27FC236}">
                <a16:creationId xmlns:a16="http://schemas.microsoft.com/office/drawing/2014/main" id="{A36DE2FE-72AB-A512-4E38-7AAFADF4ABAB}"/>
              </a:ext>
            </a:extLst>
          </p:cNvPr>
          <p:cNvCxnSpPr>
            <a:cxnSpLocks/>
          </p:cNvCxnSpPr>
          <p:nvPr/>
        </p:nvCxnSpPr>
        <p:spPr>
          <a:xfrm>
            <a:off x="4791942" y="256032"/>
            <a:ext cx="0" cy="2223757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Düz Bağlayıcı 51">
            <a:extLst>
              <a:ext uri="{FF2B5EF4-FFF2-40B4-BE49-F238E27FC236}">
                <a16:creationId xmlns:a16="http://schemas.microsoft.com/office/drawing/2014/main" id="{D11AE66A-BB5B-3BF2-0F96-F28ABF3A71E4}"/>
              </a:ext>
            </a:extLst>
          </p:cNvPr>
          <p:cNvCxnSpPr>
            <a:cxnSpLocks/>
          </p:cNvCxnSpPr>
          <p:nvPr/>
        </p:nvCxnSpPr>
        <p:spPr>
          <a:xfrm>
            <a:off x="2627674" y="2615452"/>
            <a:ext cx="0" cy="1768051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Metin kutusu 55">
            <a:extLst>
              <a:ext uri="{FF2B5EF4-FFF2-40B4-BE49-F238E27FC236}">
                <a16:creationId xmlns:a16="http://schemas.microsoft.com/office/drawing/2014/main" id="{18BE0939-009F-F7E9-4C91-F5C76FCD7FF0}"/>
              </a:ext>
            </a:extLst>
          </p:cNvPr>
          <p:cNvSpPr txBox="1"/>
          <p:nvPr/>
        </p:nvSpPr>
        <p:spPr>
          <a:xfrm>
            <a:off x="550926" y="625521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Kaynak: KYK Yurt Öğrenci Paylaşımları</a:t>
            </a:r>
          </a:p>
        </p:txBody>
      </p:sp>
      <p:sp>
        <p:nvSpPr>
          <p:cNvPr id="57" name="Rectangle 1">
            <a:extLst>
              <a:ext uri="{FF2B5EF4-FFF2-40B4-BE49-F238E27FC236}">
                <a16:creationId xmlns:a16="http://schemas.microsoft.com/office/drawing/2014/main" id="{9750E280-DACE-6740-847B-2E4779BEEA9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06064" y="2372067"/>
            <a:ext cx="60740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⏳ 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Zaman Kaybı: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Makine başında geçen verimsiz bekleme süreleri.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❓ 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Belirsizlik: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Makinelerin doluluk veya arıza durumunun uzaktan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takip edilememesi.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Yönetim Zafiyeti: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Kullanım istatistiklerinin ve arıza süreçlerinin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takip edilememesi.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⚖️ 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Adaletsiz Kullanım: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Sıra ihlalleri ve makinelerin gereksiz işgal ediliyor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tr-TR" altLang="tr-TR" sz="1400" dirty="0">
                <a:latin typeface="Arial" panose="020B0604020202020204" pitchFamily="34" charset="0"/>
              </a:rPr>
              <a:t>oluşu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Metin kutusu 58">
            <a:extLst>
              <a:ext uri="{FF2B5EF4-FFF2-40B4-BE49-F238E27FC236}">
                <a16:creationId xmlns:a16="http://schemas.microsoft.com/office/drawing/2014/main" id="{901679B9-7817-E688-DB9D-9FFD7FFFE933}"/>
              </a:ext>
            </a:extLst>
          </p:cNvPr>
          <p:cNvSpPr txBox="1"/>
          <p:nvPr/>
        </p:nvSpPr>
        <p:spPr>
          <a:xfrm>
            <a:off x="6376418" y="116146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MEVCUT DURUM ANALİZİ VE SORUNLAR</a:t>
            </a:r>
          </a:p>
        </p:txBody>
      </p:sp>
      <p:pic>
        <p:nvPicPr>
          <p:cNvPr id="6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07B21BA-F419-CB5D-2103-6888543FF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3208"/>
            <a:ext cx="542544" cy="506131"/>
          </a:xfrm>
          <a:prstGeom prst="rect">
            <a:avLst/>
          </a:prstGeom>
        </p:spPr>
      </p:pic>
      <p:pic>
        <p:nvPicPr>
          <p:cNvPr id="62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1E4E7EE-6C69-7253-B7D0-043873EF9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450270" y="324673"/>
            <a:ext cx="390144" cy="369332"/>
          </a:xfrm>
          <a:prstGeom prst="rect">
            <a:avLst/>
          </a:prstGeom>
        </p:spPr>
      </p:pic>
      <p:cxnSp>
        <p:nvCxnSpPr>
          <p:cNvPr id="65" name="Düz Bağlayıcı 64">
            <a:extLst>
              <a:ext uri="{FF2B5EF4-FFF2-40B4-BE49-F238E27FC236}">
                <a16:creationId xmlns:a16="http://schemas.microsoft.com/office/drawing/2014/main" id="{8EB331C0-9F30-3D43-25B6-38F412403491}"/>
              </a:ext>
            </a:extLst>
          </p:cNvPr>
          <p:cNvCxnSpPr>
            <a:cxnSpLocks/>
          </p:cNvCxnSpPr>
          <p:nvPr/>
        </p:nvCxnSpPr>
        <p:spPr>
          <a:xfrm>
            <a:off x="2627674" y="256032"/>
            <a:ext cx="0" cy="2223757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73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>
            <a:extLst>
              <a:ext uri="{FF2B5EF4-FFF2-40B4-BE49-F238E27FC236}">
                <a16:creationId xmlns:a16="http://schemas.microsoft.com/office/drawing/2014/main" id="{6A18CF04-D75B-87D5-E888-5C1C94EE11E4}"/>
              </a:ext>
            </a:extLst>
          </p:cNvPr>
          <p:cNvSpPr txBox="1"/>
          <p:nvPr/>
        </p:nvSpPr>
        <p:spPr>
          <a:xfrm>
            <a:off x="6342957" y="11949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SİSTEM GEREKSİNİMLERİ</a:t>
            </a:r>
            <a:endParaRPr lang="tr-TR" b="1" dirty="0">
              <a:latin typeface="Amasis MT Pro Black" panose="02040A04050005020304" pitchFamily="18" charset="-94"/>
            </a:endParaRPr>
          </a:p>
        </p:txBody>
      </p:sp>
      <p:pic>
        <p:nvPicPr>
          <p:cNvPr id="19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9D234A3-BA78-AC60-809B-BB5C246AD7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48" r="85660"/>
          <a:stretch>
            <a:fillRect/>
          </a:stretch>
        </p:blipFill>
        <p:spPr>
          <a:xfrm>
            <a:off x="0" y="0"/>
            <a:ext cx="3968496" cy="6858000"/>
          </a:xfrm>
        </p:spPr>
      </p:pic>
      <p:graphicFrame>
        <p:nvGraphicFramePr>
          <p:cNvPr id="23" name="Metin kutusu 17">
            <a:extLst>
              <a:ext uri="{FF2B5EF4-FFF2-40B4-BE49-F238E27FC236}">
                <a16:creationId xmlns:a16="http://schemas.microsoft.com/office/drawing/2014/main" id="{5F1F4DD0-235F-53F2-0390-79DB4BA1E4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347384"/>
              </p:ext>
            </p:extLst>
          </p:nvPr>
        </p:nvGraphicFramePr>
        <p:xfrm>
          <a:off x="4349496" y="2107567"/>
          <a:ext cx="6867144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Resim 21" descr="vites, taşımak, nakletmek, çizgi film, tekerle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434E73-E7D1-FDDD-5D1E-1506928B52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3" y="2107567"/>
            <a:ext cx="3529584" cy="2862322"/>
          </a:xfrm>
          <a:prstGeom prst="rect">
            <a:avLst/>
          </a:prstGeom>
        </p:spPr>
      </p:pic>
      <p:cxnSp>
        <p:nvCxnSpPr>
          <p:cNvPr id="24" name="Düz Bağlayıcı 23">
            <a:extLst>
              <a:ext uri="{FF2B5EF4-FFF2-40B4-BE49-F238E27FC236}">
                <a16:creationId xmlns:a16="http://schemas.microsoft.com/office/drawing/2014/main" id="{2417B027-548B-41B0-5EA1-62A323123E17}"/>
              </a:ext>
            </a:extLst>
          </p:cNvPr>
          <p:cNvCxnSpPr>
            <a:cxnSpLocks/>
          </p:cNvCxnSpPr>
          <p:nvPr/>
        </p:nvCxnSpPr>
        <p:spPr>
          <a:xfrm>
            <a:off x="210313" y="2107567"/>
            <a:ext cx="0" cy="286232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üz Bağlayıcı 25">
            <a:extLst>
              <a:ext uri="{FF2B5EF4-FFF2-40B4-BE49-F238E27FC236}">
                <a16:creationId xmlns:a16="http://schemas.microsoft.com/office/drawing/2014/main" id="{7BF485D1-66CD-3A87-149A-3DD2E602A325}"/>
              </a:ext>
            </a:extLst>
          </p:cNvPr>
          <p:cNvCxnSpPr>
            <a:cxnSpLocks/>
          </p:cNvCxnSpPr>
          <p:nvPr/>
        </p:nvCxnSpPr>
        <p:spPr>
          <a:xfrm>
            <a:off x="3739897" y="2107567"/>
            <a:ext cx="0" cy="286232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üz Bağlayıcı 26">
            <a:extLst>
              <a:ext uri="{FF2B5EF4-FFF2-40B4-BE49-F238E27FC236}">
                <a16:creationId xmlns:a16="http://schemas.microsoft.com/office/drawing/2014/main" id="{26A11E74-4068-0803-754A-06376825C521}"/>
              </a:ext>
            </a:extLst>
          </p:cNvPr>
          <p:cNvCxnSpPr>
            <a:cxnSpLocks/>
          </p:cNvCxnSpPr>
          <p:nvPr/>
        </p:nvCxnSpPr>
        <p:spPr>
          <a:xfrm>
            <a:off x="210313" y="4969889"/>
            <a:ext cx="3529584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üz Bağlayıcı 29">
            <a:extLst>
              <a:ext uri="{FF2B5EF4-FFF2-40B4-BE49-F238E27FC236}">
                <a16:creationId xmlns:a16="http://schemas.microsoft.com/office/drawing/2014/main" id="{E07100AD-2573-3730-01CE-4F6D408D2875}"/>
              </a:ext>
            </a:extLst>
          </p:cNvPr>
          <p:cNvCxnSpPr>
            <a:cxnSpLocks/>
          </p:cNvCxnSpPr>
          <p:nvPr/>
        </p:nvCxnSpPr>
        <p:spPr>
          <a:xfrm>
            <a:off x="210313" y="2107567"/>
            <a:ext cx="3529584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402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E296C8E-D973-F321-1028-B02A462D3809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Ana </a:t>
            </a:r>
            <a:r>
              <a:rPr lang="en-US" sz="2400" dirty="0" err="1"/>
              <a:t>kullanıcılar</a:t>
            </a:r>
            <a:r>
              <a:rPr lang="en-US" sz="2400" dirty="0"/>
              <a:t> </a:t>
            </a:r>
            <a:r>
              <a:rPr lang="en-US" sz="2400" dirty="0" err="1"/>
              <a:t>dijital</a:t>
            </a:r>
            <a:r>
              <a:rPr lang="en-US" sz="2400" dirty="0"/>
              <a:t> ye</a:t>
            </a:r>
            <a:r>
              <a:rPr lang="tr-TR" sz="2400" dirty="0" err="1"/>
              <a:t>tkinliklidir</a:t>
            </a:r>
            <a:r>
              <a:rPr lang="tr-TR" sz="2400" dirty="0"/>
              <a:t> </a:t>
            </a:r>
            <a:r>
              <a:rPr lang="en-US" sz="2400" dirty="0"/>
              <a:t>;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direnç</a:t>
            </a:r>
            <a:r>
              <a:rPr lang="en-US" sz="2400" dirty="0"/>
              <a:t> </a:t>
            </a:r>
            <a:r>
              <a:rPr lang="en-US" sz="2400" dirty="0" err="1"/>
              <a:t>görmeyecek</a:t>
            </a:r>
            <a:r>
              <a:rPr lang="en-US" sz="2400" dirty="0"/>
              <a:t>, </a:t>
            </a:r>
            <a:r>
              <a:rPr lang="en-US" sz="2400" dirty="0" err="1"/>
              <a:t>aksine</a:t>
            </a:r>
            <a:r>
              <a:rPr lang="en-US" sz="2400" dirty="0"/>
              <a:t> </a:t>
            </a:r>
            <a:r>
              <a:rPr lang="en-US" sz="2400" dirty="0" err="1"/>
              <a:t>talep</a:t>
            </a:r>
            <a:r>
              <a:rPr lang="en-US" sz="2400" dirty="0"/>
              <a:t> </a:t>
            </a:r>
            <a:r>
              <a:rPr lang="en-US" sz="2400" dirty="0" err="1"/>
              <a:t>edilecektir</a:t>
            </a:r>
            <a:r>
              <a:rPr lang="en-US" sz="24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Yurt </a:t>
            </a:r>
            <a:r>
              <a:rPr lang="en-US" sz="2400" dirty="0" err="1"/>
              <a:t>idaresi</a:t>
            </a:r>
            <a:r>
              <a:rPr lang="en-US" sz="2400" dirty="0"/>
              <a:t> </a:t>
            </a:r>
            <a:r>
              <a:rPr lang="en-US" sz="2400" dirty="0" err="1"/>
              <a:t>sıra</a:t>
            </a:r>
            <a:r>
              <a:rPr lang="en-US" sz="2400" dirty="0"/>
              <a:t> </a:t>
            </a:r>
            <a:r>
              <a:rPr lang="en-US" sz="2400" dirty="0" err="1"/>
              <a:t>kavgası</a:t>
            </a:r>
            <a:r>
              <a:rPr lang="en-US" sz="2400" dirty="0"/>
              <a:t> </a:t>
            </a:r>
            <a:r>
              <a:rPr lang="en-US" sz="2400" dirty="0" err="1"/>
              <a:t>ayıran</a:t>
            </a:r>
            <a:r>
              <a:rPr lang="en-US" sz="2400" dirty="0"/>
              <a:t> </a:t>
            </a:r>
            <a:r>
              <a:rPr lang="en-US" sz="2400" dirty="0" err="1"/>
              <a:t>taraftan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sistemi</a:t>
            </a:r>
            <a:r>
              <a:rPr lang="en-US" sz="2400" dirty="0"/>
              <a:t> </a:t>
            </a:r>
            <a:r>
              <a:rPr lang="en-US" sz="2400" dirty="0" err="1"/>
              <a:t>denetleyen</a:t>
            </a:r>
            <a:r>
              <a:rPr lang="en-US" sz="2400" dirty="0"/>
              <a:t> </a:t>
            </a:r>
            <a:r>
              <a:rPr lang="en-US" sz="2400" dirty="0" err="1"/>
              <a:t>tarafa</a:t>
            </a:r>
            <a:r>
              <a:rPr lang="en-US" sz="2400" dirty="0"/>
              <a:t> </a:t>
            </a:r>
            <a:r>
              <a:rPr lang="en-US" sz="2400" dirty="0" err="1"/>
              <a:t>geçecektir</a:t>
            </a:r>
            <a:r>
              <a:rPr lang="en-US" sz="24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Görevliler</a:t>
            </a:r>
            <a:r>
              <a:rPr lang="en-US" sz="2400" dirty="0"/>
              <a:t> </a:t>
            </a:r>
            <a:r>
              <a:rPr lang="en-US" sz="2400" dirty="0" err="1"/>
              <a:t>liste</a:t>
            </a:r>
            <a:r>
              <a:rPr lang="en-US" sz="2400" dirty="0"/>
              <a:t> </a:t>
            </a:r>
            <a:r>
              <a:rPr lang="en-US" sz="2400" dirty="0" err="1"/>
              <a:t>takibi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hijyen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makine</a:t>
            </a:r>
            <a:r>
              <a:rPr lang="en-US" sz="2400" dirty="0"/>
              <a:t> </a:t>
            </a:r>
            <a:r>
              <a:rPr lang="en-US" sz="2400" dirty="0" err="1"/>
              <a:t>bakımına</a:t>
            </a:r>
            <a:r>
              <a:rPr lang="en-US" sz="2400" dirty="0"/>
              <a:t> </a:t>
            </a:r>
            <a:r>
              <a:rPr lang="en-US" sz="2400" dirty="0" err="1"/>
              <a:t>odaklanacaktır</a:t>
            </a:r>
            <a:r>
              <a:rPr lang="en-US" sz="24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Arkadaşına</a:t>
            </a:r>
            <a:r>
              <a:rPr lang="en-US" sz="2400" dirty="0"/>
              <a:t> </a:t>
            </a:r>
            <a:r>
              <a:rPr lang="en-US" sz="2400" dirty="0" err="1"/>
              <a:t>yer</a:t>
            </a:r>
            <a:r>
              <a:rPr lang="en-US" sz="2400" dirty="0"/>
              <a:t> </a:t>
            </a:r>
            <a:r>
              <a:rPr lang="en-US" sz="2400" dirty="0" err="1"/>
              <a:t>tutma</a:t>
            </a:r>
            <a:r>
              <a:rPr lang="en-US" sz="2400" dirty="0"/>
              <a:t> </a:t>
            </a:r>
            <a:r>
              <a:rPr lang="en-US" sz="2400" dirty="0" err="1"/>
              <a:t>fazladan</a:t>
            </a:r>
            <a:r>
              <a:rPr lang="en-US" sz="2400" dirty="0"/>
              <a:t> </a:t>
            </a:r>
            <a:r>
              <a:rPr lang="en-US" sz="2400" dirty="0" err="1"/>
              <a:t>sıra</a:t>
            </a:r>
            <a:r>
              <a:rPr lang="en-US" sz="2400" dirty="0"/>
              <a:t> alma </a:t>
            </a:r>
            <a:r>
              <a:rPr lang="en-US" sz="2400" dirty="0" err="1"/>
              <a:t>kültüründen</a:t>
            </a:r>
            <a:r>
              <a:rPr lang="en-US" sz="2400" dirty="0"/>
              <a:t> </a:t>
            </a:r>
            <a:r>
              <a:rPr lang="en-US" sz="2400" dirty="0" err="1"/>
              <a:t>dijital</a:t>
            </a:r>
            <a:r>
              <a:rPr lang="en-US" sz="2400" dirty="0"/>
              <a:t> </a:t>
            </a:r>
            <a:r>
              <a:rPr lang="en-US" sz="2400" dirty="0" err="1"/>
              <a:t>adalet</a:t>
            </a:r>
            <a:r>
              <a:rPr lang="en-US" sz="2400" dirty="0"/>
              <a:t> </a:t>
            </a:r>
            <a:r>
              <a:rPr lang="en-US" sz="2400" dirty="0" err="1"/>
              <a:t>anlayışına</a:t>
            </a:r>
            <a:r>
              <a:rPr lang="en-US" sz="2400" dirty="0"/>
              <a:t> </a:t>
            </a:r>
            <a:r>
              <a:rPr lang="en-US" sz="2400" dirty="0" err="1"/>
              <a:t>geçiş</a:t>
            </a:r>
            <a:r>
              <a:rPr lang="en-US" sz="2400" dirty="0"/>
              <a:t> </a:t>
            </a:r>
            <a:r>
              <a:rPr lang="en-US" sz="2400" dirty="0" err="1"/>
              <a:t>sağlanacaktır</a:t>
            </a:r>
            <a:r>
              <a:rPr lang="en-US" sz="2400" dirty="0"/>
              <a:t>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7BB84DF1-805F-CD7C-75A4-BFE2A40FDEC0}"/>
              </a:ext>
            </a:extLst>
          </p:cNvPr>
          <p:cNvSpPr txBox="1"/>
          <p:nvPr/>
        </p:nvSpPr>
        <p:spPr>
          <a:xfrm>
            <a:off x="2166850" y="121659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tr-TR" sz="2800" b="1" dirty="0"/>
              <a:t>KURUMSAL VE SOSYAL FİZİBİLİTE</a:t>
            </a:r>
          </a:p>
        </p:txBody>
      </p:sp>
      <p:pic>
        <p:nvPicPr>
          <p:cNvPr id="16" name="Resim 15" descr="kişi, şahıs, iç mekan, masa, sana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207F669-78F1-571A-251C-1A0805461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298" y="76622"/>
            <a:ext cx="2968779" cy="29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22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7546D89-A542-EB9D-8C31-92EA858F0835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F7F04EA-6F4F-9E87-5AED-4435AC273B2C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Pahalı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sensörler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veya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kablolama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yoktur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Sadece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QR </a:t>
            </a: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Kod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ve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Mobil </a:t>
            </a: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Cihaz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yeterlidir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Yazılım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Mimarisi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kumimoji="0" lang="en-US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Frontend: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HTML, CSS, JavaScript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Backend: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Node.js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Veritabanı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MSSQL / PostgreSQL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Konum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Doğrulama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Bluetooth (Beacon)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teknolojisi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ile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öğrencinin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çamaşırhanede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olduğu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doğrulanır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000" b="1" i="0" u="none" strike="noStrike" cap="none" normalizeH="0" baseline="0" dirty="0" err="1">
                <a:ln>
                  <a:noFill/>
                </a:ln>
                <a:effectLst/>
              </a:rPr>
              <a:t>Entegrasyon</a:t>
            </a:r>
            <a:r>
              <a:rPr kumimoji="0" lang="en-US" altLang="tr-TR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Sistem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tamamen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Web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Tabanlıdır</a:t>
            </a:r>
            <a:r>
              <a:rPr lang="tr-TR" altLang="tr-TR" sz="2000" dirty="0"/>
              <a:t>.</a:t>
            </a:r>
            <a:endParaRPr kumimoji="0" lang="en-US" altLang="tr-T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Resim 8" descr="kırpıntı çizim, taslak, çizi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7DEDD42-6C83-6B41-EA40-803A03BCB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653" y="311747"/>
            <a:ext cx="2196323" cy="2196323"/>
          </a:xfrm>
          <a:prstGeom prst="rect">
            <a:avLst/>
          </a:prstGeom>
        </p:spPr>
      </p:pic>
      <p:sp>
        <p:nvSpPr>
          <p:cNvPr id="20" name="Metin kutusu 19">
            <a:extLst>
              <a:ext uri="{FF2B5EF4-FFF2-40B4-BE49-F238E27FC236}">
                <a16:creationId xmlns:a16="http://schemas.microsoft.com/office/drawing/2014/main" id="{0B7E68FF-6273-BE17-9D93-BF493C57C957}"/>
              </a:ext>
            </a:extLst>
          </p:cNvPr>
          <p:cNvSpPr txBox="1"/>
          <p:nvPr/>
        </p:nvSpPr>
        <p:spPr>
          <a:xfrm>
            <a:off x="4105656" y="1148756"/>
            <a:ext cx="30652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TEKNİK FİZİBİLİTE</a:t>
            </a:r>
          </a:p>
          <a:p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679241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5FC9387-7E6D-10D9-0054-63B019B4E616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9113D2E-434B-87A2-5DA1-0434D7F61973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tr-TR" sz="2000" dirty="0"/>
              <a:t>⏰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Rezervasyon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saatinden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sonra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10 dk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içinde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QR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okutulmazsa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işlem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iptal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edilir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tr-TR" sz="2000" dirty="0"/>
              <a:t>🏁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Gelmeyen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veya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işlem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bitince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çıkış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QR'ını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okutmayan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öğrenciye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Ceza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Puanı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işlenir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tr-TR" sz="2000" dirty="0"/>
              <a:t>✅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Randevuya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2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saat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kala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cezasız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iptal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000" b="0" i="0" u="none" strike="noStrike" cap="none" normalizeH="0" baseline="0" dirty="0" err="1">
                <a:ln>
                  <a:noFill/>
                </a:ln>
                <a:effectLst/>
              </a:rPr>
              <a:t>yapılabilir</a:t>
            </a:r>
            <a:r>
              <a:rPr kumimoji="0" lang="en-US" altLang="tr-TR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tr-T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F42843E-7D86-1024-31CC-595B0A207308}"/>
              </a:ext>
            </a:extLst>
          </p:cNvPr>
          <p:cNvSpPr txBox="1"/>
          <p:nvPr/>
        </p:nvSpPr>
        <p:spPr>
          <a:xfrm>
            <a:off x="2972755" y="1050103"/>
            <a:ext cx="3743332" cy="1021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-94"/>
              </a:rPr>
              <a:t>TEKNİK FİZİBİLİTE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-94"/>
              </a:rPr>
              <a:t>(KURALLAR VE BİLDİRİMLER)</a:t>
            </a:r>
          </a:p>
          <a:p>
            <a:pPr algn="ctr"/>
            <a:endParaRPr lang="tr-TR" b="1" dirty="0">
              <a:latin typeface="Amasis MT Pro Black" panose="02040A04050005020304" pitchFamily="18" charset="-94"/>
            </a:endParaRPr>
          </a:p>
        </p:txBody>
      </p:sp>
      <p:pic>
        <p:nvPicPr>
          <p:cNvPr id="16" name="Resim 15" descr="diyagram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C84E048-865B-C62E-B6C8-36FA05EF6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9" b="10644"/>
          <a:stretch>
            <a:fillRect/>
          </a:stretch>
        </p:blipFill>
        <p:spPr>
          <a:xfrm>
            <a:off x="7360520" y="99279"/>
            <a:ext cx="3028547" cy="240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41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37E78E6-CDAE-3068-5518-71797517B22F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EEDB34B-DF0D-2A77-D503-AE7C5AE5062E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Sistem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Bakanlık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ağından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izole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çalışır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;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güvenlik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riski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oluşturmaz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Yazılımın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mülkiyeti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geliştiricide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kullanım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hakkı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 Yurt </a:t>
            </a:r>
            <a:r>
              <a:rPr kumimoji="0" lang="en-US" altLang="tr-TR" sz="2200" b="0" i="0" u="none" strike="noStrike" cap="none" normalizeH="0" baseline="0" dirty="0" err="1">
                <a:ln>
                  <a:noFill/>
                </a:ln>
                <a:effectLst/>
              </a:rPr>
              <a:t>Müdürlüğündedir</a:t>
            </a:r>
            <a:r>
              <a:rPr kumimoji="0" lang="en-US" altLang="tr-TR" sz="2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tr-TR" altLang="tr-TR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tr-TR" sz="2200" dirty="0"/>
              <a:t>Veriler </a:t>
            </a:r>
            <a:r>
              <a:rPr lang="en-US" altLang="tr-TR" sz="2200" dirty="0" err="1"/>
              <a:t>şifrelenir</a:t>
            </a:r>
            <a:r>
              <a:rPr lang="en-US" altLang="tr-TR" sz="2200" dirty="0"/>
              <a:t>, </a:t>
            </a:r>
            <a:r>
              <a:rPr lang="en-US" altLang="tr-TR" sz="2200" dirty="0" err="1"/>
              <a:t>sözleşme</a:t>
            </a:r>
            <a:r>
              <a:rPr lang="en-US" altLang="tr-TR" sz="2200" dirty="0"/>
              <a:t> </a:t>
            </a:r>
            <a:r>
              <a:rPr lang="en-US" altLang="tr-TR" sz="2200" dirty="0" err="1"/>
              <a:t>bitiminde</a:t>
            </a:r>
            <a:r>
              <a:rPr lang="en-US" altLang="tr-TR" sz="2200" dirty="0"/>
              <a:t> </a:t>
            </a:r>
            <a:r>
              <a:rPr lang="en-US" altLang="tr-TR" sz="2200" dirty="0" err="1"/>
              <a:t>silinir</a:t>
            </a:r>
            <a:r>
              <a:rPr lang="en-US" altLang="tr-TR" sz="2200" dirty="0"/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tr-TR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Resim 7">
            <a:extLst>
              <a:ext uri="{FF2B5EF4-FFF2-40B4-BE49-F238E27FC236}">
                <a16:creationId xmlns:a16="http://schemas.microsoft.com/office/drawing/2014/main" id="{1C1B6AD9-5635-4E54-BFE7-BC3BCE68C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2"/>
          <a:stretch>
            <a:fillRect/>
          </a:stretch>
        </p:blipFill>
        <p:spPr>
          <a:xfrm>
            <a:off x="7471364" y="104502"/>
            <a:ext cx="3171083" cy="2394871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6013C1A5-8400-843D-6C4A-9280FC2E27EC}"/>
              </a:ext>
            </a:extLst>
          </p:cNvPr>
          <p:cNvSpPr txBox="1"/>
          <p:nvPr/>
        </p:nvSpPr>
        <p:spPr>
          <a:xfrm>
            <a:off x="3071442" y="1187944"/>
            <a:ext cx="34948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masis MT Pro Black" panose="02040A04050005020304" pitchFamily="18" charset="-94"/>
              </a:rPr>
              <a:t>YASAL FİZİBİLİTE</a:t>
            </a:r>
          </a:p>
          <a:p>
            <a:endParaRPr lang="tr-TR" sz="2800" dirty="0">
              <a:latin typeface="Amasis MT Pro Black" panose="02040A04050005020304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996134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F22837A2-B485-5240-A11F-0A4BD4AEF8BD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tr-TR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25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BC349F5-D32D-5C74-3E1F-CD4F9F3EE24F}"/>
              </a:ext>
            </a:extLst>
          </p:cNvPr>
          <p:cNvSpPr txBox="1"/>
          <p:nvPr/>
        </p:nvSpPr>
        <p:spPr>
          <a:xfrm>
            <a:off x="2452878" y="1216597"/>
            <a:ext cx="609447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tr-TR" sz="2800" dirty="0">
                <a:latin typeface="Amasis MT Pro Black" panose="02040A04050005020304" pitchFamily="18" charset="-94"/>
              </a:rPr>
              <a:t>Finansal Fizibilite </a:t>
            </a:r>
            <a:endParaRPr lang="en-US" sz="2800" kern="1200" dirty="0">
              <a:solidFill>
                <a:schemeClr val="tx1"/>
              </a:solidFill>
              <a:latin typeface="Amasis MT Pro Black" panose="02040A04050005020304" pitchFamily="18" charset="-94"/>
              <a:ea typeface="+mj-ea"/>
              <a:cs typeface="+mj-cs"/>
            </a:endParaRPr>
          </a:p>
        </p:txBody>
      </p:sp>
      <p:pic>
        <p:nvPicPr>
          <p:cNvPr id="27" name="Resim 26">
            <a:extLst>
              <a:ext uri="{FF2B5EF4-FFF2-40B4-BE49-F238E27FC236}">
                <a16:creationId xmlns:a16="http://schemas.microsoft.com/office/drawing/2014/main" id="{E57160F8-A509-A341-E94A-49972E9C5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2"/>
          <a:stretch>
            <a:fillRect/>
          </a:stretch>
        </p:blipFill>
        <p:spPr>
          <a:xfrm>
            <a:off x="7541514" y="237744"/>
            <a:ext cx="2197608" cy="2270326"/>
          </a:xfrm>
          <a:prstGeom prst="rect">
            <a:avLst/>
          </a:prstGeom>
        </p:spPr>
      </p:pic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F376F727-50BB-C8EE-C277-3CE5BFD26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25914"/>
              </p:ext>
            </p:extLst>
          </p:nvPr>
        </p:nvGraphicFramePr>
        <p:xfrm>
          <a:off x="838200" y="2724911"/>
          <a:ext cx="6065519" cy="2781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6062">
                  <a:extLst>
                    <a:ext uri="{9D8B030D-6E8A-4147-A177-3AD203B41FA5}">
                      <a16:colId xmlns:a16="http://schemas.microsoft.com/office/drawing/2014/main" val="4154207570"/>
                    </a:ext>
                  </a:extLst>
                </a:gridCol>
                <a:gridCol w="866062">
                  <a:extLst>
                    <a:ext uri="{9D8B030D-6E8A-4147-A177-3AD203B41FA5}">
                      <a16:colId xmlns:a16="http://schemas.microsoft.com/office/drawing/2014/main" val="1396879357"/>
                    </a:ext>
                  </a:extLst>
                </a:gridCol>
                <a:gridCol w="866679">
                  <a:extLst>
                    <a:ext uri="{9D8B030D-6E8A-4147-A177-3AD203B41FA5}">
                      <a16:colId xmlns:a16="http://schemas.microsoft.com/office/drawing/2014/main" val="2583161719"/>
                    </a:ext>
                  </a:extLst>
                </a:gridCol>
                <a:gridCol w="866679">
                  <a:extLst>
                    <a:ext uri="{9D8B030D-6E8A-4147-A177-3AD203B41FA5}">
                      <a16:colId xmlns:a16="http://schemas.microsoft.com/office/drawing/2014/main" val="3777059567"/>
                    </a:ext>
                  </a:extLst>
                </a:gridCol>
                <a:gridCol w="866679">
                  <a:extLst>
                    <a:ext uri="{9D8B030D-6E8A-4147-A177-3AD203B41FA5}">
                      <a16:colId xmlns:a16="http://schemas.microsoft.com/office/drawing/2014/main" val="2969139993"/>
                    </a:ext>
                  </a:extLst>
                </a:gridCol>
                <a:gridCol w="866679">
                  <a:extLst>
                    <a:ext uri="{9D8B030D-6E8A-4147-A177-3AD203B41FA5}">
                      <a16:colId xmlns:a16="http://schemas.microsoft.com/office/drawing/2014/main" val="2168677930"/>
                    </a:ext>
                  </a:extLst>
                </a:gridCol>
                <a:gridCol w="866679">
                  <a:extLst>
                    <a:ext uri="{9D8B030D-6E8A-4147-A177-3AD203B41FA5}">
                      <a16:colId xmlns:a16="http://schemas.microsoft.com/office/drawing/2014/main" val="1328583418"/>
                    </a:ext>
                  </a:extLst>
                </a:gridCol>
              </a:tblGrid>
              <a:tr h="855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Yıllar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Yurt Sayısı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Yurt Başına Fiyat (TL)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Gelir (TL)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İşletme Gideri (TL)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Net Nakit Akışı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Kümülatif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7003413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0.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596.500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-596.500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-596.500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7305474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60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70.000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4.200.000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5.045.000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-845.000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-1.441.500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4218996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70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87.500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6.125.000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6.306.250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-181.250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-1.622.750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0595886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3.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80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109.375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8.750.000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7.882.813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+867.188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-755.563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9114321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4.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90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136.719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12.304.688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9.853.516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+2.451.172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+1.695.609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9744876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5.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100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170.898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17.089.844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12.316.895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+4.772.949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+6.468.559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8630124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6. Yıl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131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152.588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19.988.953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15.121.461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+4.867.492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+6.740.463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2663347"/>
                  </a:ext>
                </a:extLst>
              </a:tr>
            </a:tbl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11F90134-EC8F-3EA2-430E-35D9B857D91A}"/>
              </a:ext>
            </a:extLst>
          </p:cNvPr>
          <p:cNvSpPr txBox="1"/>
          <p:nvPr/>
        </p:nvSpPr>
        <p:spPr>
          <a:xfrm>
            <a:off x="7198335" y="3235051"/>
            <a:ext cx="46255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b="1" dirty="0">
                <a:solidFill>
                  <a:srgbClr val="21C2F1"/>
                </a:solidFill>
              </a:rPr>
              <a:t>TOPLAM YILLIK GİDER</a:t>
            </a:r>
            <a:r>
              <a:rPr lang="tr-TR" sz="1600" b="1" dirty="0">
                <a:solidFill>
                  <a:srgbClr val="FF0000"/>
                </a:solidFill>
              </a:rPr>
              <a:t> </a:t>
            </a:r>
            <a:r>
              <a:rPr lang="tr-TR" sz="1600" b="1" dirty="0"/>
              <a:t>= </a:t>
            </a:r>
            <a:r>
              <a:rPr lang="tr-TR" sz="1600" dirty="0"/>
              <a:t>5.045.000tl </a:t>
            </a:r>
          </a:p>
          <a:p>
            <a:r>
              <a:rPr lang="tr-TR" sz="1600" b="1" dirty="0"/>
              <a:t>Toplam maliyet</a:t>
            </a:r>
            <a:r>
              <a:rPr lang="tr-TR" sz="1600" dirty="0"/>
              <a:t> =5.641.500 yıllık giderler + yatırım maliyeti</a:t>
            </a:r>
          </a:p>
          <a:p>
            <a:r>
              <a:rPr lang="tr-TR" sz="1600" b="1" dirty="0"/>
              <a:t>Satış Hedefi</a:t>
            </a:r>
            <a:r>
              <a:rPr lang="tr-TR" sz="1600" dirty="0"/>
              <a:t> = 60 (Her yıl minimum +10 hedef)</a:t>
            </a:r>
          </a:p>
          <a:p>
            <a:r>
              <a:rPr lang="tr-TR" sz="1600" b="1" dirty="0"/>
              <a:t>Satış Fiyatı</a:t>
            </a:r>
            <a:r>
              <a:rPr lang="tr-TR" sz="1600" i="1" dirty="0"/>
              <a:t> = 70.000tl + enflasyon (yıllık %25 olarak)</a:t>
            </a:r>
            <a:endParaRPr lang="tr-TR" sz="1600" dirty="0"/>
          </a:p>
          <a:p>
            <a:r>
              <a:rPr lang="tr-TR" sz="1600" b="1" dirty="0">
                <a:solidFill>
                  <a:srgbClr val="21C2F1"/>
                </a:solidFill>
              </a:rPr>
              <a:t>TOPLAM YILLIK GELİR</a:t>
            </a:r>
            <a:r>
              <a:rPr lang="tr-TR" sz="1600" dirty="0">
                <a:solidFill>
                  <a:srgbClr val="21C2F1"/>
                </a:solidFill>
              </a:rPr>
              <a:t> </a:t>
            </a:r>
            <a:r>
              <a:rPr lang="tr-TR" sz="1600" dirty="0"/>
              <a:t>= 70.000*60= 4.200.000</a:t>
            </a:r>
          </a:p>
          <a:p>
            <a:endParaRPr lang="tr-TR" sz="16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0526DE4-4B78-4A7C-1020-C9040B18BA72}"/>
              </a:ext>
            </a:extLst>
          </p:cNvPr>
          <p:cNvSpPr txBox="1"/>
          <p:nvPr/>
        </p:nvSpPr>
        <p:spPr>
          <a:xfrm>
            <a:off x="809243" y="5562445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tabLst>
                <a:tab pos="457200" algn="l"/>
              </a:tabLst>
            </a:pPr>
            <a:r>
              <a:rPr lang="tr-T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Sistem </a:t>
            </a:r>
            <a:r>
              <a:rPr lang="tr-TR" sz="1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Yılda </a:t>
            </a:r>
            <a:r>
              <a:rPr lang="tr-T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toplam yatırım maliyetini amorti ederek kümülatif kâra ulaşmaktadır.</a:t>
            </a:r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C278F2DF-E459-E980-E370-74BCADA0E455}"/>
              </a:ext>
            </a:extLst>
          </p:cNvPr>
          <p:cNvCxnSpPr>
            <a:cxnSpLocks/>
          </p:cNvCxnSpPr>
          <p:nvPr/>
        </p:nvCxnSpPr>
        <p:spPr>
          <a:xfrm>
            <a:off x="7097075" y="2675631"/>
            <a:ext cx="0" cy="2862322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0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295EB3F-D430-9412-4567-91B14E82B5D7}"/>
              </a:ext>
            </a:extLst>
          </p:cNvPr>
          <p:cNvSpPr txBox="1"/>
          <p:nvPr/>
        </p:nvSpPr>
        <p:spPr>
          <a:xfrm>
            <a:off x="4130911" y="78724"/>
            <a:ext cx="609447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tr-TR" sz="1800" kern="1200" dirty="0">
                <a:solidFill>
                  <a:schemeClr val="tx1"/>
                </a:solidFill>
                <a:latin typeface="Amasis MT Pro Black" panose="02040A04050005020304" pitchFamily="18" charset="-94"/>
                <a:ea typeface="+mj-ea"/>
                <a:cs typeface="+mj-cs"/>
              </a:rPr>
              <a:t>ZAMAN FİZBİLİTESİ</a:t>
            </a:r>
            <a:endParaRPr lang="en-US" sz="1800" kern="1200" dirty="0">
              <a:solidFill>
                <a:schemeClr val="tx1"/>
              </a:solidFill>
              <a:latin typeface="Amasis MT Pro Black" panose="02040A04050005020304" pitchFamily="18" charset="-94"/>
              <a:ea typeface="+mj-ea"/>
              <a:cs typeface="+mj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6FAC007-CDF6-60AF-9A37-E1E5ADB7A99C}"/>
              </a:ext>
            </a:extLst>
          </p:cNvPr>
          <p:cNvSpPr txBox="1"/>
          <p:nvPr/>
        </p:nvSpPr>
        <p:spPr>
          <a:xfrm>
            <a:off x="718964" y="24954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/>
              <a:t>GANT ŞEMASI</a:t>
            </a:r>
          </a:p>
        </p:txBody>
      </p:sp>
      <p:pic>
        <p:nvPicPr>
          <p:cNvPr id="9" name="Resim 8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667E888-BB90-B059-9031-C3568504E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28" y="473829"/>
            <a:ext cx="9103968" cy="591782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43CDD26-56E5-0A69-36D3-FA8FE6D35C79}"/>
              </a:ext>
            </a:extLst>
          </p:cNvPr>
          <p:cNvSpPr txBox="1"/>
          <p:nvPr/>
        </p:nvSpPr>
        <p:spPr>
          <a:xfrm>
            <a:off x="9683496" y="1521743"/>
            <a:ext cx="200776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1200" b="1" dirty="0"/>
              <a:t>Analiz ve Planlama </a:t>
            </a:r>
            <a:endParaRPr lang="tr-T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200" dirty="0"/>
              <a:t>Sorunların tespiti ve gereksinimlerin belirlenmesi.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200" b="1" dirty="0"/>
              <a:t> Sistem Tasarımı </a:t>
            </a:r>
            <a:endParaRPr lang="tr-T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200" dirty="0"/>
              <a:t>Kullanıcı arayüzlerinin  tasarlanması.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200" b="1" dirty="0"/>
              <a:t> Kodlama ve Entegrasyon </a:t>
            </a:r>
            <a:endParaRPr lang="tr-T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200" dirty="0"/>
              <a:t>Veri tabanının oluşturulması ve kodlamanın yapılması.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200" b="1" dirty="0"/>
              <a:t>Test ve Bitiş</a:t>
            </a:r>
            <a:endParaRPr lang="tr-T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200" dirty="0"/>
              <a:t>Son kullanıcı testleri ve proje sunumunun hazırlanması.</a:t>
            </a:r>
          </a:p>
        </p:txBody>
      </p:sp>
    </p:spTree>
    <p:extLst>
      <p:ext uri="{BB962C8B-B14F-4D97-AF65-F5344CB8AC3E}">
        <p14:creationId xmlns:p14="http://schemas.microsoft.com/office/powerpoint/2010/main" val="26254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9">
            <a:extLst>
              <a:ext uri="{FF2B5EF4-FFF2-40B4-BE49-F238E27FC236}">
                <a16:creationId xmlns:a16="http://schemas.microsoft.com/office/drawing/2014/main" id="{A2B65E96-DA5D-131F-22DB-D2FED0492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833F0C80-2A24-0150-D01E-4A7FA3C3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" name="Rectangle 12">
              <a:extLst>
                <a:ext uri="{FF2B5EF4-FFF2-40B4-BE49-F238E27FC236}">
                  <a16:creationId xmlns:a16="http://schemas.microsoft.com/office/drawing/2014/main" id="{BAAD8CDE-54C6-C7BB-B05D-91182EB21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FE176613-A72B-518C-C3DA-5B34003B0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328B028F-060F-9931-F181-2676F74E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16">
            <a:extLst>
              <a:ext uri="{FF2B5EF4-FFF2-40B4-BE49-F238E27FC236}">
                <a16:creationId xmlns:a16="http://schemas.microsoft.com/office/drawing/2014/main" id="{94DBF14E-E59C-78E5-4E04-222493B5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A1CC8F0-3FCD-4521-E6B5-AF7E24BF5834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tr-TR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2311A5E2-7562-54DB-3EFB-43F752278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D464356-CBDC-EA8D-54C5-E6A0219C2C69}"/>
              </a:ext>
            </a:extLst>
          </p:cNvPr>
          <p:cNvSpPr txBox="1"/>
          <p:nvPr/>
        </p:nvSpPr>
        <p:spPr>
          <a:xfrm>
            <a:off x="2452878" y="1216597"/>
            <a:ext cx="6094476" cy="94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tr-TR" sz="2800">
                <a:latin typeface="Amasis MT Pro Black" panose="02040A04050005020304" pitchFamily="18" charset="-94"/>
              </a:rPr>
              <a:t>YÖNETİM FİZİBİLİTESİ </a:t>
            </a:r>
            <a:endParaRPr lang="en-US" sz="2800">
              <a:latin typeface="Amasis MT Pro Black" panose="02040A04050005020304" pitchFamily="18" charset="-94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 dirty="0">
              <a:solidFill>
                <a:schemeClr val="tx1"/>
              </a:solidFill>
              <a:latin typeface="Amasis MT Pro Black" panose="02040A04050005020304" pitchFamily="18" charset="-94"/>
              <a:ea typeface="+mj-ea"/>
              <a:cs typeface="+mj-cs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0A7BC48-2FA1-5928-B129-9586412F7C9D}"/>
              </a:ext>
            </a:extLst>
          </p:cNvPr>
          <p:cNvSpPr txBox="1"/>
          <p:nvPr/>
        </p:nvSpPr>
        <p:spPr>
          <a:xfrm>
            <a:off x="1205653" y="3332064"/>
            <a:ext cx="92080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Sistem, kurumun mevcut IT altyapısına veya bütçesine ek donanım yükü getirmeyen, </a:t>
            </a:r>
            <a:r>
              <a:rPr lang="tr-TR" altLang="tr-TR" dirty="0">
                <a:latin typeface="Arial" panose="020B0604020202020204" pitchFamily="34" charset="0"/>
              </a:rPr>
              <a:t>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izmet </a:t>
            </a:r>
            <a:r>
              <a:rPr lang="tr-TR" altLang="tr-TR" dirty="0">
                <a:latin typeface="Arial" panose="020B0604020202020204" pitchFamily="34" charset="0"/>
              </a:rPr>
              <a:t>a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lımı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modeliyle kurgulanmıştır.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Yurt müdürleri, operasyonel kaosu ve öğrenci şikayetlerini bitireceği için projeyi tam desteklemektedir.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Teknik bakım, sunucu ve güvenlik sorumluluğu tamamen yüklenici firmadadır. Yurt idaresi sadece hizmeti denetler.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697ACED9-E0FD-3733-D957-CA5DAFEB4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7"/>
          <a:stretch>
            <a:fillRect/>
          </a:stretch>
        </p:blipFill>
        <p:spPr>
          <a:xfrm>
            <a:off x="7268513" y="285222"/>
            <a:ext cx="3717834" cy="222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7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İçerik Yer Tutucusu 5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3479D8-707B-E3AF-A374-5F1A492C5B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073" y="2103118"/>
            <a:ext cx="5294716" cy="312342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İçerik Yer Tutucusu 7" descr="metin, el yazısı, kitap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D69AFF7-2928-BFC9-A1D2-F5E9B85828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r="7229"/>
          <a:stretch>
            <a:fillRect/>
          </a:stretch>
        </p:blipFill>
        <p:spPr>
          <a:xfrm rot="16200000">
            <a:off x="1716776" y="1017471"/>
            <a:ext cx="3123420" cy="5294715"/>
          </a:xfrm>
          <a:prstGeom prst="rect">
            <a:avLst/>
          </a:prstGeom>
        </p:spPr>
      </p:pic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53156197-E3CB-C584-640F-8A3459A72EA5}"/>
              </a:ext>
            </a:extLst>
          </p:cNvPr>
          <p:cNvCxnSpPr>
            <a:cxnSpLocks/>
          </p:cNvCxnSpPr>
          <p:nvPr/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66D0124-1CC2-AB30-4303-C71AD6442D6C}"/>
              </a:ext>
            </a:extLst>
          </p:cNvPr>
          <p:cNvSpPr txBox="1"/>
          <p:nvPr/>
        </p:nvSpPr>
        <p:spPr>
          <a:xfrm>
            <a:off x="1364742" y="149375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MEVCUT ANALOG YÖNTEM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4C1A7FE-4A2A-E102-7397-8C2FA55D7D65}"/>
              </a:ext>
            </a:extLst>
          </p:cNvPr>
          <p:cNvSpPr txBox="1"/>
          <p:nvPr/>
        </p:nvSpPr>
        <p:spPr>
          <a:xfrm>
            <a:off x="6508242" y="149018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SİSTEMİN GETİRDİĞİ DİJİTAL ÇÖZÜM</a:t>
            </a:r>
          </a:p>
        </p:txBody>
      </p:sp>
      <p:pic>
        <p:nvPicPr>
          <p:cNvPr id="16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FB781F4-3F93-1AFE-FF81-FBFCAEB4D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324844" y="475488"/>
            <a:ext cx="390144" cy="369332"/>
          </a:xfrm>
          <a:prstGeom prst="rect">
            <a:avLst/>
          </a:prstGeom>
        </p:spPr>
      </p:pic>
      <p:pic>
        <p:nvPicPr>
          <p:cNvPr id="18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D6256A-919F-9400-195E-A372D032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138645" y="640790"/>
            <a:ext cx="390144" cy="369332"/>
          </a:xfrm>
          <a:prstGeom prst="rect">
            <a:avLst/>
          </a:prstGeom>
        </p:spPr>
      </p:pic>
      <p:pic>
        <p:nvPicPr>
          <p:cNvPr id="19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A6D5846-B4DC-4216-2FB1-917BFFB88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477012" y="6008608"/>
            <a:ext cx="390144" cy="369332"/>
          </a:xfrm>
          <a:prstGeom prst="rect">
            <a:avLst/>
          </a:prstGeom>
        </p:spPr>
      </p:pic>
      <p:pic>
        <p:nvPicPr>
          <p:cNvPr id="2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F923A6B-FC86-2313-77F5-0D7BB50A3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631128" y="5823942"/>
            <a:ext cx="390144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33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4B66916-E4AE-9537-ED1A-7722884D9768}"/>
              </a:ext>
            </a:extLst>
          </p:cNvPr>
          <p:cNvSpPr txBox="1"/>
          <p:nvPr/>
        </p:nvSpPr>
        <p:spPr>
          <a:xfrm>
            <a:off x="8412984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VARLIK AKIŞ DİYAGRAMI</a:t>
            </a:r>
          </a:p>
        </p:txBody>
      </p:sp>
      <p:cxnSp>
        <p:nvCxnSpPr>
          <p:cNvPr id="13" name="Düz Bağlayıcı 12">
            <a:extLst>
              <a:ext uri="{FF2B5EF4-FFF2-40B4-BE49-F238E27FC236}">
                <a16:creationId xmlns:a16="http://schemas.microsoft.com/office/drawing/2014/main" id="{BE58D76B-D3B1-654B-3F17-5AE42ACB3AFE}"/>
              </a:ext>
            </a:extLst>
          </p:cNvPr>
          <p:cNvCxnSpPr/>
          <p:nvPr/>
        </p:nvCxnSpPr>
        <p:spPr>
          <a:xfrm>
            <a:off x="8241028" y="0"/>
            <a:ext cx="0" cy="685800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üz Bağlayıcı 20">
            <a:extLst>
              <a:ext uri="{FF2B5EF4-FFF2-40B4-BE49-F238E27FC236}">
                <a16:creationId xmlns:a16="http://schemas.microsoft.com/office/drawing/2014/main" id="{3E848C36-D5E4-51A9-7B8B-C7065A08FE05}"/>
              </a:ext>
            </a:extLst>
          </p:cNvPr>
          <p:cNvCxnSpPr/>
          <p:nvPr/>
        </p:nvCxnSpPr>
        <p:spPr>
          <a:xfrm>
            <a:off x="8412984" y="3613666"/>
            <a:ext cx="3271520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Resim 2" descr="ekran görüntüsü, siyah beyaz, metin, graf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61496D3-8A2F-B7E1-BDF8-78355E0F8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4" y="0"/>
            <a:ext cx="8106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86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etin kutusu 2">
            <a:extLst>
              <a:ext uri="{FF2B5EF4-FFF2-40B4-BE49-F238E27FC236}">
                <a16:creationId xmlns:a16="http://schemas.microsoft.com/office/drawing/2014/main" id="{89C0F7D9-1720-FEEB-8468-73E7F811A2DA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VERİ AKIŞ DİYAGRAMI</a:t>
            </a:r>
          </a:p>
        </p:txBody>
      </p:sp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F54AC5C7-078C-D31B-E4BB-F32D432F3AAD}"/>
              </a:ext>
            </a:extLst>
          </p:cNvPr>
          <p:cNvCxnSpPr/>
          <p:nvPr/>
        </p:nvCxnSpPr>
        <p:spPr>
          <a:xfrm>
            <a:off x="7562719" y="0"/>
            <a:ext cx="0" cy="685800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6A2A8FC-6ECE-F500-A323-E7078A6ED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0"/>
            <a:ext cx="542544" cy="506131"/>
          </a:xfrm>
          <a:prstGeom prst="rect">
            <a:avLst/>
          </a:prstGeom>
        </p:spPr>
      </p:pic>
      <p:pic>
        <p:nvPicPr>
          <p:cNvPr id="8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AC2F16-B2AF-6350-BA14-9FCD4869B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463528" y="253065"/>
            <a:ext cx="542544" cy="506131"/>
          </a:xfrm>
          <a:prstGeom prst="rect">
            <a:avLst/>
          </a:prstGeom>
        </p:spPr>
      </p:pic>
      <p:cxnSp>
        <p:nvCxnSpPr>
          <p:cNvPr id="2" name="Düz Bağlayıcı 1">
            <a:extLst>
              <a:ext uri="{FF2B5EF4-FFF2-40B4-BE49-F238E27FC236}">
                <a16:creationId xmlns:a16="http://schemas.microsoft.com/office/drawing/2014/main" id="{3E848C36-D5E4-51A9-7B8B-C7065A08FE05}"/>
              </a:ext>
            </a:extLst>
          </p:cNvPr>
          <p:cNvCxnSpPr/>
          <p:nvPr/>
        </p:nvCxnSpPr>
        <p:spPr>
          <a:xfrm>
            <a:off x="7836677" y="2937197"/>
            <a:ext cx="3271520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 descr="ekran görüntüsü, metin, kare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6C1B5F7-229A-D44C-8262-E47A49769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2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44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 descr="metin, ekran görüntüsü, yazı tipi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102FD8-860B-49CF-2EEC-D72DC7DD8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080" y="145629"/>
            <a:ext cx="4730903" cy="668679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832F56B-32CA-442B-8F56-B0C410B2C5D2}"/>
              </a:ext>
            </a:extLst>
          </p:cNvPr>
          <p:cNvSpPr txBox="1"/>
          <p:nvPr/>
        </p:nvSpPr>
        <p:spPr>
          <a:xfrm>
            <a:off x="53325" y="3119693"/>
            <a:ext cx="3581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BASİTLEŞTİRİLMİŞ İŞ AKIŞ ŞEMASI 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A4451062-2EF1-A0B8-519F-2E1C942E2A29}"/>
              </a:ext>
            </a:extLst>
          </p:cNvPr>
          <p:cNvCxnSpPr>
            <a:cxnSpLocks/>
          </p:cNvCxnSpPr>
          <p:nvPr/>
        </p:nvCxnSpPr>
        <p:spPr>
          <a:xfrm flipV="1">
            <a:off x="0" y="3493940"/>
            <a:ext cx="3634755" cy="27186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52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 descr="ekran görüntüsü, metin, siyah beyaz, siyah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6E7C1CC-56F6-82D4-7223-C21C639AD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872" y="39126"/>
            <a:ext cx="3908105" cy="673811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662769B-2D8A-ABD1-F8C9-46585EE65FF5}"/>
              </a:ext>
            </a:extLst>
          </p:cNvPr>
          <p:cNvSpPr txBox="1"/>
          <p:nvPr/>
        </p:nvSpPr>
        <p:spPr>
          <a:xfrm>
            <a:off x="213276" y="3132231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 İŞ AKIŞ ŞEMASI </a:t>
            </a: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6705D2E8-B39D-B7C6-5F39-21896CBA4A9F}"/>
              </a:ext>
            </a:extLst>
          </p:cNvPr>
          <p:cNvCxnSpPr>
            <a:cxnSpLocks/>
          </p:cNvCxnSpPr>
          <p:nvPr/>
        </p:nvCxnSpPr>
        <p:spPr>
          <a:xfrm>
            <a:off x="0" y="3521126"/>
            <a:ext cx="239572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299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D4E0E-C239-5958-68D7-DB467FD3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BB3A16-A3EB-DA37-5C0E-8C3045704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015BC4-0543-956D-57F2-C9AB8A691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7B4BCB-20C2-35BA-2118-1E739552B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5A6C0A-80CE-3C5A-75B8-3CE2E87CA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AEF5452-093C-47E2-55E8-66A7F76D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6D266F-BCB3-7CF4-9228-73C747B75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 descr="ekran görüntüsü, metin, siyah beyaz, siyah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8436F16-5978-74EE-A272-559E074C3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71"/>
          <a:stretch>
            <a:fillRect/>
          </a:stretch>
        </p:blipFill>
        <p:spPr>
          <a:xfrm>
            <a:off x="1941125" y="-1"/>
            <a:ext cx="8429395" cy="685800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1C6C5C5-6A36-0EEE-CC76-7824C5FC5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C95A17E-9238-707E-CBC3-75318C557B63}"/>
              </a:ext>
            </a:extLst>
          </p:cNvPr>
          <p:cNvSpPr txBox="1"/>
          <p:nvPr/>
        </p:nvSpPr>
        <p:spPr>
          <a:xfrm>
            <a:off x="262128" y="208134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 İŞ AKIŞ ŞEMASI </a:t>
            </a: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5B85EE03-3FA5-5B20-68BF-B91C27EB8162}"/>
              </a:ext>
            </a:extLst>
          </p:cNvPr>
          <p:cNvCxnSpPr>
            <a:cxnSpLocks/>
          </p:cNvCxnSpPr>
          <p:nvPr/>
        </p:nvCxnSpPr>
        <p:spPr>
          <a:xfrm>
            <a:off x="155448" y="2496998"/>
            <a:ext cx="239572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12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A09DE-34B1-2770-3270-4957DAB5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4FF37D-14E1-78CD-C8DF-20CCF8FB1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79FC6F-2A9A-9449-648B-D93800EFB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F852CB-1859-1785-ED73-7A4A355F0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4312B9-487C-C7D7-3DBC-9F89E10C4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73500F-F6D5-8EFD-672E-3D3723176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CCF13397-8629-5A87-FFEC-113B53B02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19AC40E-9F7C-F807-B055-96945D84A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E729915-21EB-D3B1-DA4B-63A6286A7911}"/>
              </a:ext>
            </a:extLst>
          </p:cNvPr>
          <p:cNvSpPr txBox="1"/>
          <p:nvPr/>
        </p:nvSpPr>
        <p:spPr>
          <a:xfrm>
            <a:off x="262128" y="208134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 İŞ AKIŞ ŞEMASI </a:t>
            </a: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853AA222-3088-3297-7110-8B90D4FB69FD}"/>
              </a:ext>
            </a:extLst>
          </p:cNvPr>
          <p:cNvCxnSpPr>
            <a:cxnSpLocks/>
          </p:cNvCxnSpPr>
          <p:nvPr/>
        </p:nvCxnSpPr>
        <p:spPr>
          <a:xfrm>
            <a:off x="155448" y="2496998"/>
            <a:ext cx="2395728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Resim 1" descr="ekran görüntüsü, metin, siyah beyaz, siyah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615095E-8459-6F46-BA5D-837961AF2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88"/>
          <a:stretch>
            <a:fillRect/>
          </a:stretch>
        </p:blipFill>
        <p:spPr>
          <a:xfrm>
            <a:off x="2508665" y="-39898"/>
            <a:ext cx="7531653" cy="68579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C244692F-A50C-E934-CD1C-D382A8437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196832"/>
              </p:ext>
            </p:extLst>
          </p:nvPr>
        </p:nvGraphicFramePr>
        <p:xfrm>
          <a:off x="3918909" y="2575438"/>
          <a:ext cx="7593387" cy="212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8894">
                  <a:extLst>
                    <a:ext uri="{9D8B030D-6E8A-4147-A177-3AD203B41FA5}">
                      <a16:colId xmlns:a16="http://schemas.microsoft.com/office/drawing/2014/main" val="758866045"/>
                    </a:ext>
                  </a:extLst>
                </a:gridCol>
                <a:gridCol w="2508894">
                  <a:extLst>
                    <a:ext uri="{9D8B030D-6E8A-4147-A177-3AD203B41FA5}">
                      <a16:colId xmlns:a16="http://schemas.microsoft.com/office/drawing/2014/main" val="1009857547"/>
                    </a:ext>
                  </a:extLst>
                </a:gridCol>
                <a:gridCol w="640253">
                  <a:extLst>
                    <a:ext uri="{9D8B030D-6E8A-4147-A177-3AD203B41FA5}">
                      <a16:colId xmlns:a16="http://schemas.microsoft.com/office/drawing/2014/main" val="3014720103"/>
                    </a:ext>
                  </a:extLst>
                </a:gridCol>
                <a:gridCol w="640253">
                  <a:extLst>
                    <a:ext uri="{9D8B030D-6E8A-4147-A177-3AD203B41FA5}">
                      <a16:colId xmlns:a16="http://schemas.microsoft.com/office/drawing/2014/main" val="4153581585"/>
                    </a:ext>
                  </a:extLst>
                </a:gridCol>
                <a:gridCol w="658812">
                  <a:extLst>
                    <a:ext uri="{9D8B030D-6E8A-4147-A177-3AD203B41FA5}">
                      <a16:colId xmlns:a16="http://schemas.microsoft.com/office/drawing/2014/main" val="2631384554"/>
                    </a:ext>
                  </a:extLst>
                </a:gridCol>
                <a:gridCol w="636281">
                  <a:extLst>
                    <a:ext uri="{9D8B030D-6E8A-4147-A177-3AD203B41FA5}">
                      <a16:colId xmlns:a16="http://schemas.microsoft.com/office/drawing/2014/main" val="121371011"/>
                    </a:ext>
                  </a:extLst>
                </a:gridCol>
              </a:tblGrid>
              <a:tr h="23177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Karar Tablosu/Arıza Bildirimi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KURAL1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KURAL 2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KURAL 3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KURAL 4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00813491"/>
                  </a:ext>
                </a:extLst>
              </a:tr>
              <a:tr h="24155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DURUMLAR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Öğrenci randevusunda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647519743"/>
                  </a:ext>
                </a:extLst>
              </a:tr>
              <a:tr h="241554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Makine sisteme kayıtlı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1297554"/>
                  </a:ext>
                </a:extLst>
              </a:tr>
              <a:tr h="44284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Makinede hali hazırda arıza kaydı var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505004906"/>
                  </a:ext>
                </a:extLst>
              </a:tr>
              <a:tr h="24155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İŞLEMLER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Arıza kaydı oluştur.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161573799"/>
                  </a:ext>
                </a:extLst>
              </a:tr>
              <a:tr h="241554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Öğrencinin randevu saati değil,reddet.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64120710"/>
                  </a:ext>
                </a:extLst>
              </a:tr>
              <a:tr h="241554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Makine sistemde yok,reddet.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733587374"/>
                  </a:ext>
                </a:extLst>
              </a:tr>
              <a:tr h="241554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100">
                          <a:effectLst/>
                        </a:rPr>
                        <a:t>Makine zaten arızalı,reddet.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 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06663027"/>
                  </a:ext>
                </a:extLst>
              </a:tr>
            </a:tbl>
          </a:graphicData>
        </a:graphic>
      </p:graphicFrame>
      <p:pic>
        <p:nvPicPr>
          <p:cNvPr id="5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8B15E3B-62AD-D7BC-3CBC-CA267AC1E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378184" y="203488"/>
            <a:ext cx="542544" cy="506131"/>
          </a:xfrm>
          <a:prstGeom prst="rect">
            <a:avLst/>
          </a:prstGeom>
        </p:spPr>
      </p:pic>
      <p:pic>
        <p:nvPicPr>
          <p:cNvPr id="6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052E0B2-1A30-FBE7-DA82-6CA8625CF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0"/>
            <a:ext cx="542544" cy="506131"/>
          </a:xfrm>
          <a:prstGeom prst="rect">
            <a:avLst/>
          </a:prstGeom>
        </p:spPr>
      </p:pic>
      <p:pic>
        <p:nvPicPr>
          <p:cNvPr id="7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0A9AAAD-ADF0-21A5-B1D8-8D4A58929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137392" y="5873225"/>
            <a:ext cx="1055623" cy="984775"/>
          </a:xfrm>
          <a:prstGeom prst="rect">
            <a:avLst/>
          </a:prstGeom>
        </p:spPr>
      </p:pic>
      <p:pic>
        <p:nvPicPr>
          <p:cNvPr id="8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9BF74A8-D84D-8FB8-E54E-0D6A86B81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0896600" y="5627450"/>
            <a:ext cx="963168" cy="898525"/>
          </a:xfrm>
          <a:prstGeom prst="rect">
            <a:avLst/>
          </a:prstGeom>
        </p:spPr>
      </p:pic>
      <p:pic>
        <p:nvPicPr>
          <p:cNvPr id="9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4B062E8-06B7-A0B5-062F-6A20C836F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0" y="-1"/>
            <a:ext cx="218129" cy="203489"/>
          </a:xfrm>
          <a:prstGeom prst="rect">
            <a:avLst/>
          </a:prstGeom>
        </p:spPr>
      </p:pic>
      <p:pic>
        <p:nvPicPr>
          <p:cNvPr id="1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D884270-6B40-C3B4-7E0F-B71B4AD74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09064" y="49576"/>
            <a:ext cx="218129" cy="203489"/>
          </a:xfrm>
          <a:prstGeom prst="rect">
            <a:avLst/>
          </a:prstGeom>
        </p:spPr>
      </p:pic>
      <p:graphicFrame>
        <p:nvGraphicFramePr>
          <p:cNvPr id="11" name="Tablo 10">
            <a:extLst>
              <a:ext uri="{FF2B5EF4-FFF2-40B4-BE49-F238E27FC236}">
                <a16:creationId xmlns:a16="http://schemas.microsoft.com/office/drawing/2014/main" id="{54901E3E-271D-3D05-AD7C-AF8B7E0E1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93242"/>
              </p:ext>
            </p:extLst>
          </p:nvPr>
        </p:nvGraphicFramePr>
        <p:xfrm>
          <a:off x="268922" y="402379"/>
          <a:ext cx="7266285" cy="20237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1459">
                  <a:extLst>
                    <a:ext uri="{9D8B030D-6E8A-4147-A177-3AD203B41FA5}">
                      <a16:colId xmlns:a16="http://schemas.microsoft.com/office/drawing/2014/main" val="2923138419"/>
                    </a:ext>
                  </a:extLst>
                </a:gridCol>
                <a:gridCol w="2381459">
                  <a:extLst>
                    <a:ext uri="{9D8B030D-6E8A-4147-A177-3AD203B41FA5}">
                      <a16:colId xmlns:a16="http://schemas.microsoft.com/office/drawing/2014/main" val="641641940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925869345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3838776077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482156795"/>
                    </a:ext>
                  </a:extLst>
                </a:gridCol>
                <a:gridCol w="526928">
                  <a:extLst>
                    <a:ext uri="{9D8B030D-6E8A-4147-A177-3AD203B41FA5}">
                      <a16:colId xmlns:a16="http://schemas.microsoft.com/office/drawing/2014/main" val="3724832889"/>
                    </a:ext>
                  </a:extLst>
                </a:gridCol>
              </a:tblGrid>
              <a:tr h="36258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Karar Tablosu/Randevu Alma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KURAL 1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KURAL 2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KURAL 3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KURAL 4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23668261"/>
                  </a:ext>
                </a:extLst>
              </a:tr>
              <a:tr h="198120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 dirty="0">
                          <a:effectLst/>
                        </a:rPr>
                        <a:t>DURUMLAR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Aynı saat aralığında öğrencinin başka randevusu var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909899597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Makine arızalı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787333123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Makine o saat aralığında dolu  mu?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57857600"/>
                  </a:ext>
                </a:extLst>
              </a:tr>
              <a:tr h="19812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İŞLEMLER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Randevu Oluştur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98784170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Kendisine Ait Başka Randevu Var  Reddet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29164353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Makine Arızalı Reddet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86872419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100">
                          <a:effectLst/>
                        </a:rPr>
                        <a:t>Dolu Reddet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X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92198399"/>
                  </a:ext>
                </a:extLst>
              </a:tr>
            </a:tbl>
          </a:graphicData>
        </a:graphic>
      </p:graphicFrame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666B2FF6-8B8D-A05A-6FDE-AD49A248A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889380"/>
              </p:ext>
            </p:extLst>
          </p:nvPr>
        </p:nvGraphicFramePr>
        <p:xfrm>
          <a:off x="327193" y="4848694"/>
          <a:ext cx="7208014" cy="18355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34727">
                  <a:extLst>
                    <a:ext uri="{9D8B030D-6E8A-4147-A177-3AD203B41FA5}">
                      <a16:colId xmlns:a16="http://schemas.microsoft.com/office/drawing/2014/main" val="560456981"/>
                    </a:ext>
                  </a:extLst>
                </a:gridCol>
                <a:gridCol w="2634727">
                  <a:extLst>
                    <a:ext uri="{9D8B030D-6E8A-4147-A177-3AD203B41FA5}">
                      <a16:colId xmlns:a16="http://schemas.microsoft.com/office/drawing/2014/main" val="977556950"/>
                    </a:ext>
                  </a:extLst>
                </a:gridCol>
                <a:gridCol w="484640">
                  <a:extLst>
                    <a:ext uri="{9D8B030D-6E8A-4147-A177-3AD203B41FA5}">
                      <a16:colId xmlns:a16="http://schemas.microsoft.com/office/drawing/2014/main" val="1885282390"/>
                    </a:ext>
                  </a:extLst>
                </a:gridCol>
                <a:gridCol w="484640">
                  <a:extLst>
                    <a:ext uri="{9D8B030D-6E8A-4147-A177-3AD203B41FA5}">
                      <a16:colId xmlns:a16="http://schemas.microsoft.com/office/drawing/2014/main" val="4267820391"/>
                    </a:ext>
                  </a:extLst>
                </a:gridCol>
                <a:gridCol w="484640">
                  <a:extLst>
                    <a:ext uri="{9D8B030D-6E8A-4147-A177-3AD203B41FA5}">
                      <a16:colId xmlns:a16="http://schemas.microsoft.com/office/drawing/2014/main" val="601557369"/>
                    </a:ext>
                  </a:extLst>
                </a:gridCol>
                <a:gridCol w="484640">
                  <a:extLst>
                    <a:ext uri="{9D8B030D-6E8A-4147-A177-3AD203B41FA5}">
                      <a16:colId xmlns:a16="http://schemas.microsoft.com/office/drawing/2014/main" val="3377891085"/>
                    </a:ext>
                  </a:extLst>
                </a:gridCol>
              </a:tblGrid>
              <a:tr h="43894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Karar Tablosu/Ceza Alma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KURAL1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KURAL2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KURAL3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KURAL4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23289204"/>
                  </a:ext>
                </a:extLst>
              </a:tr>
              <a:tr h="239422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DURUMLAR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000">
                          <a:effectLst/>
                        </a:rPr>
                        <a:t>Randevu zamanında başladı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296734051"/>
                  </a:ext>
                </a:extLst>
              </a:tr>
              <a:tr h="239422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000">
                          <a:effectLst/>
                        </a:rPr>
                        <a:t>Öğrenci qr kontrolu yaptı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48757352"/>
                  </a:ext>
                </a:extLst>
              </a:tr>
              <a:tr h="199519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000">
                          <a:effectLst/>
                        </a:rPr>
                        <a:t>Öğrenci 10dk lık geç kalma süresini aştı mı?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299416248"/>
                  </a:ext>
                </a:extLst>
              </a:tr>
              <a:tr h="239422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000">
                          <a:effectLst/>
                        </a:rPr>
                        <a:t>Öğrenci gelmeyeceği randevuyu iptal etti mi?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H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E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268569644"/>
                  </a:ext>
                </a:extLst>
              </a:tr>
              <a:tr h="23942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İŞLEMLER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000">
                          <a:effectLst/>
                        </a:rPr>
                        <a:t>Ceza alır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206611609"/>
                  </a:ext>
                </a:extLst>
              </a:tr>
              <a:tr h="239422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000">
                          <a:effectLst/>
                        </a:rPr>
                        <a:t>Ceza almaz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X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tr-T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 dirty="0">
                          <a:effectLst/>
                        </a:rPr>
                        <a:t>X</a:t>
                      </a:r>
                      <a:endParaRPr lang="tr-T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752248685"/>
                  </a:ext>
                </a:extLst>
              </a:tr>
            </a:tbl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964C4EF5-FA6B-16EC-C9CD-13EF672B2CC6}"/>
              </a:ext>
            </a:extLst>
          </p:cNvPr>
          <p:cNvSpPr txBox="1"/>
          <p:nvPr/>
        </p:nvSpPr>
        <p:spPr>
          <a:xfrm>
            <a:off x="327193" y="34290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KARAR TABLOLARI</a:t>
            </a:r>
          </a:p>
        </p:txBody>
      </p:sp>
      <p:cxnSp>
        <p:nvCxnSpPr>
          <p:cNvPr id="15" name="Düz Bağlayıcı 14">
            <a:extLst>
              <a:ext uri="{FF2B5EF4-FFF2-40B4-BE49-F238E27FC236}">
                <a16:creationId xmlns:a16="http://schemas.microsoft.com/office/drawing/2014/main" id="{34652B89-A82C-8B73-CBC8-5FDB2FECB2C1}"/>
              </a:ext>
            </a:extLst>
          </p:cNvPr>
          <p:cNvCxnSpPr>
            <a:cxnSpLocks/>
          </p:cNvCxnSpPr>
          <p:nvPr/>
        </p:nvCxnSpPr>
        <p:spPr>
          <a:xfrm>
            <a:off x="268922" y="3798332"/>
            <a:ext cx="2644607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08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B91DBE4-6D35-0D6E-09F3-18506638E218}"/>
              </a:ext>
            </a:extLst>
          </p:cNvPr>
          <p:cNvSpPr txBox="1"/>
          <p:nvPr/>
        </p:nvSpPr>
        <p:spPr>
          <a:xfrm>
            <a:off x="1005746" y="339557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AĞ TASARIMI</a:t>
            </a: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F5561293-0844-4DE5-9ADC-35761DF771AE}"/>
              </a:ext>
            </a:extLst>
          </p:cNvPr>
          <p:cNvCxnSpPr>
            <a:cxnSpLocks/>
          </p:cNvCxnSpPr>
          <p:nvPr/>
        </p:nvCxnSpPr>
        <p:spPr>
          <a:xfrm>
            <a:off x="851082" y="707103"/>
            <a:ext cx="1778000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ekran görüntüsü, metin, daire, ay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F7E3FB0-7AC7-40D6-ED76-841B1187B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441" y="0"/>
            <a:ext cx="4487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00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 descr="metin, diyagram, plan, teknik çiz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D084011-F317-9F27-F053-BD7C296E6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27" y="473829"/>
            <a:ext cx="11111728" cy="5917828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BBEED60D-0792-FBAC-E0A9-012538E180AB}"/>
              </a:ext>
            </a:extLst>
          </p:cNvPr>
          <p:cNvSpPr txBox="1"/>
          <p:nvPr/>
        </p:nvSpPr>
        <p:spPr>
          <a:xfrm>
            <a:off x="8241030" y="580471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VERİ TABANI TASARIMI</a:t>
            </a: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6AD57BA5-4E11-5BB5-77DC-18836F23D4C0}"/>
              </a:ext>
            </a:extLst>
          </p:cNvPr>
          <p:cNvCxnSpPr>
            <a:cxnSpLocks/>
          </p:cNvCxnSpPr>
          <p:nvPr/>
        </p:nvCxnSpPr>
        <p:spPr>
          <a:xfrm flipV="1">
            <a:off x="7977717" y="6127588"/>
            <a:ext cx="3634755" cy="27186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717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24022E0-2843-F37B-9213-22CBF196A1DD}"/>
              </a:ext>
            </a:extLst>
          </p:cNvPr>
          <p:cNvSpPr txBox="1"/>
          <p:nvPr/>
        </p:nvSpPr>
        <p:spPr>
          <a:xfrm>
            <a:off x="1737416" y="163163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effectLst/>
                <a:latin typeface="Amasis MT Pro Black" panose="02040A04050005020304" pitchFamily="18" charset="-94"/>
                <a:ea typeface="+mj-ea"/>
                <a:cs typeface="+mj-cs"/>
              </a:rPr>
              <a:t>VERİ SÖZLÜĞÜ</a:t>
            </a:r>
            <a:endParaRPr lang="en-US" kern="1200" dirty="0">
              <a:solidFill>
                <a:schemeClr val="tx1"/>
              </a:solidFill>
              <a:latin typeface="Amasis MT Pro Black" panose="02040A04050005020304" pitchFamily="18" charset="-94"/>
              <a:ea typeface="+mj-ea"/>
              <a:cs typeface="+mj-cs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24E566A-7372-477D-4DCF-55C4D0C13BD5}"/>
              </a:ext>
            </a:extLst>
          </p:cNvPr>
          <p:cNvSpPr txBox="1"/>
          <p:nvPr/>
        </p:nvSpPr>
        <p:spPr>
          <a:xfrm>
            <a:off x="641774" y="1321540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Kayıt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Ad </a:t>
            </a:r>
            <a:r>
              <a:rPr lang="en-US" sz="1200" dirty="0" err="1">
                <a:effectLst/>
              </a:rPr>
              <a:t>Soyad</a:t>
            </a:r>
            <a:r>
              <a:rPr lang="en-US" sz="1200" dirty="0">
                <a:effectLst/>
              </a:rPr>
              <a:t> + T.C. </a:t>
            </a:r>
            <a:r>
              <a:rPr lang="en-US" sz="1200" dirty="0" err="1">
                <a:effectLst/>
              </a:rPr>
              <a:t>Kimlik</a:t>
            </a:r>
            <a:r>
              <a:rPr lang="en-US" sz="1200" dirty="0">
                <a:effectLst/>
              </a:rPr>
              <a:t> No + E-</a:t>
            </a:r>
            <a:r>
              <a:rPr lang="en-US" sz="1200" dirty="0" err="1">
                <a:effectLst/>
              </a:rPr>
              <a:t>posta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Şifre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Öğrenci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Kimliği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Sistem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Kayıt</a:t>
            </a:r>
            <a:r>
              <a:rPr lang="en-US" sz="1200" dirty="0">
                <a:effectLst/>
              </a:rPr>
              <a:t> = Ad </a:t>
            </a:r>
            <a:r>
              <a:rPr lang="en-US" sz="1200" dirty="0" err="1">
                <a:effectLst/>
              </a:rPr>
              <a:t>Soyad</a:t>
            </a:r>
            <a:r>
              <a:rPr lang="en-US" sz="1200" dirty="0">
                <a:effectLst/>
              </a:rPr>
              <a:t> + T.C. </a:t>
            </a:r>
            <a:r>
              <a:rPr lang="en-US" sz="1200" dirty="0" err="1">
                <a:effectLst/>
              </a:rPr>
              <a:t>Kimlik</a:t>
            </a:r>
            <a:r>
              <a:rPr lang="en-US" sz="1200" dirty="0">
                <a:effectLst/>
              </a:rPr>
              <a:t> No + E-</a:t>
            </a:r>
            <a:r>
              <a:rPr lang="en-US" sz="1200" dirty="0" err="1">
                <a:effectLst/>
              </a:rPr>
              <a:t>posta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Şifre</a:t>
            </a:r>
            <a:r>
              <a:rPr lang="en-US" sz="1200" dirty="0">
                <a:effectLst/>
              </a:rPr>
              <a:t> + Blok </a:t>
            </a:r>
            <a:r>
              <a:rPr lang="en-US" sz="1200" dirty="0" err="1">
                <a:effectLst/>
              </a:rPr>
              <a:t>Bilgisi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Kullanıcı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Girişi</a:t>
            </a:r>
            <a:r>
              <a:rPr lang="en-US" sz="1200" dirty="0">
                <a:effectLst/>
              </a:rPr>
              <a:t> = E-</a:t>
            </a:r>
            <a:r>
              <a:rPr lang="en-US" sz="1200" dirty="0" err="1">
                <a:effectLst/>
              </a:rPr>
              <a:t>posta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Şifre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Admin </a:t>
            </a:r>
            <a:r>
              <a:rPr lang="en-US" sz="1200" dirty="0" err="1">
                <a:effectLst/>
              </a:rPr>
              <a:t>Girişi</a:t>
            </a:r>
            <a:r>
              <a:rPr lang="en-US" sz="1200" dirty="0">
                <a:effectLst/>
              </a:rPr>
              <a:t> = E-</a:t>
            </a:r>
            <a:r>
              <a:rPr lang="en-US" sz="1200" dirty="0" err="1">
                <a:effectLst/>
              </a:rPr>
              <a:t>posta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Şifre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KYK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KYK </a:t>
            </a:r>
            <a:r>
              <a:rPr lang="en-US" sz="1200" dirty="0" err="1">
                <a:effectLst/>
              </a:rPr>
              <a:t>Adı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Konum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Blok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Blok </a:t>
            </a:r>
            <a:r>
              <a:rPr lang="en-US" sz="1200" dirty="0" err="1">
                <a:effectLst/>
              </a:rPr>
              <a:t>Adı</a:t>
            </a:r>
            <a:r>
              <a:rPr lang="en-US" sz="1200" dirty="0">
                <a:effectLst/>
              </a:rPr>
              <a:t> + KYK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Çağırma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Limiti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Öğrenci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Ad </a:t>
            </a:r>
            <a:r>
              <a:rPr lang="en-US" sz="1200" dirty="0" err="1">
                <a:effectLst/>
              </a:rPr>
              <a:t>Soyad</a:t>
            </a:r>
            <a:r>
              <a:rPr lang="en-US" sz="1200" dirty="0">
                <a:effectLst/>
              </a:rPr>
              <a:t> + T.C. </a:t>
            </a:r>
            <a:r>
              <a:rPr lang="en-US" sz="1200" dirty="0" err="1">
                <a:effectLst/>
              </a:rPr>
              <a:t>Kimlik</a:t>
            </a:r>
            <a:r>
              <a:rPr lang="en-US" sz="1200" dirty="0">
                <a:effectLst/>
              </a:rPr>
              <a:t> No + </a:t>
            </a:r>
            <a:r>
              <a:rPr lang="en-US" sz="1200" dirty="0" err="1">
                <a:effectLst/>
              </a:rPr>
              <a:t>Telefon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Numarası</a:t>
            </a:r>
            <a:r>
              <a:rPr lang="en-US" sz="1200" dirty="0">
                <a:effectLst/>
              </a:rPr>
              <a:t> + E-</a:t>
            </a:r>
            <a:r>
              <a:rPr lang="en-US" sz="1200" dirty="0" err="1">
                <a:effectLst/>
              </a:rPr>
              <a:t>posta</a:t>
            </a:r>
            <a:r>
              <a:rPr lang="en-US" sz="1200" dirty="0">
                <a:effectLst/>
              </a:rPr>
              <a:t>  + Blok + Oda </a:t>
            </a:r>
            <a:r>
              <a:rPr lang="en-US" sz="1200" dirty="0" err="1">
                <a:effectLst/>
              </a:rPr>
              <a:t>Numarası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Kota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Öğrenci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Haftalık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Yıkama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Limiti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Haftalık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Kurutma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Limiti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Günlük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Yıkama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Limiti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Günlük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Kurutma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Limiti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Çamaşırhane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Çamaşırhane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Kimliği</a:t>
            </a:r>
            <a:r>
              <a:rPr lang="en-US" sz="1200" dirty="0">
                <a:effectLst/>
              </a:rPr>
              <a:t> + Blok </a:t>
            </a:r>
            <a:r>
              <a:rPr lang="en-US" sz="1200" dirty="0" err="1">
                <a:effectLst/>
              </a:rPr>
              <a:t>Bilgisi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Makine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Türü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Makine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Türü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Adı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/>
              <a:t>Makine</a:t>
            </a:r>
            <a:r>
              <a:rPr lang="en-US" sz="1200" dirty="0"/>
              <a:t> </a:t>
            </a:r>
            <a:r>
              <a:rPr lang="en-US" sz="1200" dirty="0" err="1"/>
              <a:t>Bilgisi</a:t>
            </a:r>
            <a:r>
              <a:rPr lang="en-US" sz="1200" dirty="0"/>
              <a:t> = </a:t>
            </a:r>
            <a:r>
              <a:rPr lang="en-US" sz="1200" dirty="0" err="1"/>
              <a:t>Makine</a:t>
            </a:r>
            <a:r>
              <a:rPr lang="en-US" sz="1200" dirty="0"/>
              <a:t> </a:t>
            </a:r>
            <a:r>
              <a:rPr lang="en-US" sz="1200" dirty="0" err="1"/>
              <a:t>Türü</a:t>
            </a:r>
            <a:r>
              <a:rPr lang="en-US" sz="1200" dirty="0"/>
              <a:t> + </a:t>
            </a:r>
            <a:r>
              <a:rPr lang="en-US" sz="1200" dirty="0" err="1"/>
              <a:t>Makine</a:t>
            </a:r>
            <a:r>
              <a:rPr lang="en-US" sz="1200" dirty="0"/>
              <a:t> Durumu + </a:t>
            </a:r>
            <a:r>
              <a:rPr lang="en-US" sz="1200" dirty="0" err="1"/>
              <a:t>Makine</a:t>
            </a:r>
            <a:r>
              <a:rPr lang="en-US" sz="1200" dirty="0"/>
              <a:t> </a:t>
            </a:r>
            <a:r>
              <a:rPr lang="en-US" sz="1200" dirty="0" err="1"/>
              <a:t>Süresi</a:t>
            </a:r>
            <a:r>
              <a:rPr lang="en-US" sz="1200" dirty="0"/>
              <a:t> + </a:t>
            </a:r>
            <a:r>
              <a:rPr lang="en-US" sz="1200" dirty="0" err="1"/>
              <a:t>Çamaşırhane</a:t>
            </a:r>
            <a:r>
              <a:rPr lang="en-US" sz="1200" dirty="0"/>
              <a:t> </a:t>
            </a:r>
            <a:r>
              <a:rPr lang="en-US" sz="1200" dirty="0" err="1"/>
              <a:t>Bilgisi</a:t>
            </a:r>
            <a:r>
              <a:rPr lang="en-US" sz="1200" dirty="0"/>
              <a:t> + QR </a:t>
            </a:r>
            <a:r>
              <a:rPr lang="en-US" sz="1200" dirty="0" err="1"/>
              <a:t>Bilgisi</a:t>
            </a:r>
            <a:endParaRPr lang="tr-TR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Randevu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Oluşturma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Öğrenci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Makine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Başlangıç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Tarihi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Süre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Randevu</a:t>
            </a:r>
            <a:r>
              <a:rPr lang="en-US" sz="1200" dirty="0">
                <a:effectLst/>
              </a:rPr>
              <a:t> Durumu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Randevu</a:t>
            </a:r>
            <a:r>
              <a:rPr lang="en-US" sz="1200" dirty="0">
                <a:effectLst/>
              </a:rPr>
              <a:t> Durumu = </a:t>
            </a:r>
            <a:r>
              <a:rPr lang="en-US" sz="1200" dirty="0" err="1">
                <a:effectLst/>
              </a:rPr>
              <a:t>Aktif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İptal</a:t>
            </a:r>
            <a:r>
              <a:rPr lang="en-US" sz="1200" dirty="0">
                <a:effectLst/>
              </a:rPr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Arıza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Bildirimi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Randevu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Arıza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Açıklaması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Arıza</a:t>
            </a:r>
            <a:r>
              <a:rPr lang="en-US" sz="1200" dirty="0">
                <a:effectLst/>
              </a:rPr>
              <a:t> Durumu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Arıza</a:t>
            </a:r>
            <a:r>
              <a:rPr lang="en-US" sz="1200" dirty="0">
                <a:effectLst/>
              </a:rPr>
              <a:t> Durumu = Açık + </a:t>
            </a:r>
            <a:r>
              <a:rPr lang="en-US" sz="1200" dirty="0" err="1">
                <a:effectLst/>
              </a:rPr>
              <a:t>Çözüldü</a:t>
            </a:r>
            <a:r>
              <a:rPr lang="en-US" sz="1200" dirty="0">
                <a:effectLst/>
              </a:rPr>
              <a:t>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Ceza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Öğrenci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Randevu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Ceza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Puanı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Ceza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Tarihi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Ceza</a:t>
            </a:r>
            <a:r>
              <a:rPr lang="en-US" sz="1200" dirty="0">
                <a:effectLst/>
              </a:rPr>
              <a:t> Durumu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</a:rPr>
              <a:t>Ceza</a:t>
            </a:r>
            <a:r>
              <a:rPr lang="en-US" sz="1200" dirty="0">
                <a:effectLst/>
              </a:rPr>
              <a:t> Durumu = </a:t>
            </a:r>
            <a:r>
              <a:rPr lang="en-US" sz="1200" dirty="0" err="1">
                <a:effectLst/>
              </a:rPr>
              <a:t>Aktif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İptal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Admin </a:t>
            </a:r>
            <a:r>
              <a:rPr lang="en-US" sz="1200" dirty="0" err="1">
                <a:effectLst/>
              </a:rPr>
              <a:t>Türü</a:t>
            </a:r>
            <a:r>
              <a:rPr lang="en-US" sz="1200" dirty="0">
                <a:effectLst/>
              </a:rPr>
              <a:t> = </a:t>
            </a:r>
            <a:r>
              <a:rPr lang="en-US" sz="1200" dirty="0" err="1">
                <a:effectLst/>
              </a:rPr>
              <a:t>Yetki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Türü</a:t>
            </a:r>
            <a:endParaRPr lang="en-US" sz="12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Admin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= Ad </a:t>
            </a:r>
            <a:r>
              <a:rPr lang="en-US" sz="1200" dirty="0" err="1">
                <a:effectLst/>
              </a:rPr>
              <a:t>Soyad</a:t>
            </a:r>
            <a:r>
              <a:rPr lang="en-US" sz="1200" dirty="0">
                <a:effectLst/>
              </a:rPr>
              <a:t> + </a:t>
            </a:r>
            <a:r>
              <a:rPr lang="en-US" sz="1200" dirty="0" err="1">
                <a:effectLst/>
              </a:rPr>
              <a:t>Telefon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Numarası</a:t>
            </a:r>
            <a:r>
              <a:rPr lang="en-US" sz="1200" dirty="0">
                <a:effectLst/>
              </a:rPr>
              <a:t> + E-</a:t>
            </a:r>
            <a:r>
              <a:rPr lang="en-US" sz="1200" dirty="0" err="1">
                <a:effectLst/>
              </a:rPr>
              <a:t>posta</a:t>
            </a:r>
            <a:r>
              <a:rPr lang="en-US" sz="1200" dirty="0">
                <a:effectLst/>
              </a:rPr>
              <a:t> + Blok </a:t>
            </a:r>
            <a:r>
              <a:rPr lang="en-US" sz="1200" dirty="0" err="1">
                <a:effectLst/>
              </a:rPr>
              <a:t>Bilgisi</a:t>
            </a:r>
            <a:r>
              <a:rPr lang="en-US" sz="1200" dirty="0">
                <a:effectLst/>
              </a:rPr>
              <a:t> + Admin </a:t>
            </a:r>
            <a:r>
              <a:rPr lang="en-US" sz="1200" dirty="0" err="1">
                <a:effectLst/>
              </a:rPr>
              <a:t>Türü</a:t>
            </a:r>
            <a:endParaRPr lang="en-US" sz="1200" dirty="0">
              <a:effectLst/>
            </a:endParaRPr>
          </a:p>
        </p:txBody>
      </p:sp>
      <p:cxnSp>
        <p:nvCxnSpPr>
          <p:cNvPr id="2" name="Düz Bağlayıcı 1">
            <a:extLst>
              <a:ext uri="{FF2B5EF4-FFF2-40B4-BE49-F238E27FC236}">
                <a16:creationId xmlns:a16="http://schemas.microsoft.com/office/drawing/2014/main" id="{4E6A6990-BD09-A0B7-D6E8-C964E303105F}"/>
              </a:ext>
            </a:extLst>
          </p:cNvPr>
          <p:cNvCxnSpPr>
            <a:cxnSpLocks/>
          </p:cNvCxnSpPr>
          <p:nvPr/>
        </p:nvCxnSpPr>
        <p:spPr>
          <a:xfrm>
            <a:off x="1069848" y="1191820"/>
            <a:ext cx="3609333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47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9" descr="metin, ekran görüntüsü, yazılı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B917FB9-EC14-A6E7-B1F7-EDEED8A5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6" b="3365"/>
          <a:stretch>
            <a:fillRect/>
          </a:stretch>
        </p:blipFill>
        <p:spPr>
          <a:xfrm>
            <a:off x="0" y="1549360"/>
            <a:ext cx="5858610" cy="274439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21C2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Resim 2" descr="metin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30395F-D25E-BE36-A239-519D6D0D03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8" b="3484"/>
          <a:stretch>
            <a:fillRect/>
          </a:stretch>
        </p:blipFill>
        <p:spPr>
          <a:xfrm>
            <a:off x="7025275" y="1488415"/>
            <a:ext cx="5166726" cy="2805336"/>
          </a:xfrm>
          <a:prstGeom prst="rect">
            <a:avLst/>
          </a:prstGeom>
        </p:spPr>
      </p:pic>
      <p:pic>
        <p:nvPicPr>
          <p:cNvPr id="14" name="Resim 13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1090F3-6F29-DE1D-E88D-D9A9947CC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251" y="4661785"/>
            <a:ext cx="1238364" cy="2196215"/>
          </a:xfrm>
          <a:prstGeom prst="rect">
            <a:avLst/>
          </a:prstGeom>
        </p:spPr>
      </p:pic>
      <p:pic>
        <p:nvPicPr>
          <p:cNvPr id="18" name="Resim 17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660C6A7-3671-80F0-76D2-796C98726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283" y="4776117"/>
            <a:ext cx="1331579" cy="1625420"/>
          </a:xfrm>
          <a:prstGeom prst="rect">
            <a:avLst/>
          </a:prstGeom>
        </p:spPr>
      </p:pic>
      <p:pic>
        <p:nvPicPr>
          <p:cNvPr id="24" name="Resim 23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90612B7-8C0A-8627-66F2-2C0608C69D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38" y="4432789"/>
            <a:ext cx="3637271" cy="2737539"/>
          </a:xfrm>
          <a:prstGeom prst="rect">
            <a:avLst/>
          </a:prstGeom>
        </p:spPr>
      </p:pic>
      <p:pic>
        <p:nvPicPr>
          <p:cNvPr id="25" name="Resim 24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E019BF7-52CF-2DE8-0A19-5C4DF490AA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638" y="4487652"/>
            <a:ext cx="3637271" cy="2737539"/>
          </a:xfrm>
          <a:prstGeom prst="rect">
            <a:avLst/>
          </a:prstGeom>
        </p:spPr>
      </p:pic>
      <p:pic>
        <p:nvPicPr>
          <p:cNvPr id="29" name="Resim 28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BB4FA1-F258-D26D-7C1F-56C9EADA83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774" y="366653"/>
            <a:ext cx="5821968" cy="5821968"/>
          </a:xfrm>
          <a:prstGeom prst="rect">
            <a:avLst/>
          </a:prstGeom>
        </p:spPr>
      </p:pic>
      <p:pic>
        <p:nvPicPr>
          <p:cNvPr id="30" name="Resim 29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CD2F2A4-F569-8FE8-4F5F-E55867D646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365" y="348333"/>
            <a:ext cx="5858609" cy="5858609"/>
          </a:xfrm>
          <a:prstGeom prst="rect">
            <a:avLst/>
          </a:prstGeom>
        </p:spPr>
      </p:pic>
      <p:sp>
        <p:nvSpPr>
          <p:cNvPr id="32" name="Metin kutusu 31">
            <a:extLst>
              <a:ext uri="{FF2B5EF4-FFF2-40B4-BE49-F238E27FC236}">
                <a16:creationId xmlns:a16="http://schemas.microsoft.com/office/drawing/2014/main" id="{5C5DC184-723D-1799-D3C2-333AD9A28A6D}"/>
              </a:ext>
            </a:extLst>
          </p:cNvPr>
          <p:cNvSpPr txBox="1"/>
          <p:nvPr/>
        </p:nvSpPr>
        <p:spPr>
          <a:xfrm>
            <a:off x="8614095" y="549042"/>
            <a:ext cx="679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KAYIT OLMA</a:t>
            </a: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DC44F09A-C67A-C378-9688-77F1C10616FB}"/>
              </a:ext>
            </a:extLst>
          </p:cNvPr>
          <p:cNvSpPr txBox="1"/>
          <p:nvPr/>
        </p:nvSpPr>
        <p:spPr>
          <a:xfrm>
            <a:off x="1720909" y="645993"/>
            <a:ext cx="785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GİRİŞ YAPMA</a:t>
            </a:r>
          </a:p>
        </p:txBody>
      </p:sp>
      <p:pic>
        <p:nvPicPr>
          <p:cNvPr id="38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86BE6A9-2EFF-A54C-4D3A-F616BC25C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3208"/>
            <a:ext cx="542544" cy="506131"/>
          </a:xfrm>
          <a:prstGeom prst="rect">
            <a:avLst/>
          </a:prstGeom>
        </p:spPr>
      </p:pic>
      <p:pic>
        <p:nvPicPr>
          <p:cNvPr id="39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5D76A1A-1E0E-9FAD-BDE5-E948F4832E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378184" y="203488"/>
            <a:ext cx="542544" cy="506131"/>
          </a:xfrm>
          <a:prstGeom prst="rect">
            <a:avLst/>
          </a:prstGeom>
        </p:spPr>
      </p:pic>
      <p:pic>
        <p:nvPicPr>
          <p:cNvPr id="4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E1149FF-B7CD-16F3-EA6A-4873E133B7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1272" y="6169313"/>
            <a:ext cx="542544" cy="506131"/>
          </a:xfrm>
          <a:prstGeom prst="rect">
            <a:avLst/>
          </a:prstGeom>
        </p:spPr>
      </p:pic>
      <p:pic>
        <p:nvPicPr>
          <p:cNvPr id="41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66E3722-0BD7-16A0-006B-21DE08300C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0" y="6367205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10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CE7DF00E-EF75-98FA-D453-A1AA39622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9963"/>
            <a:ext cx="7397038" cy="3606055"/>
          </a:xfrm>
          <a:prstGeom prst="rect">
            <a:avLst/>
          </a:prstGeom>
        </p:spPr>
      </p:pic>
      <p:pic>
        <p:nvPicPr>
          <p:cNvPr id="3" name="Resim 2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BB04435-B141-61E8-B4E1-10EFEE3F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83" y="425070"/>
            <a:ext cx="3869658" cy="1996269"/>
          </a:xfrm>
          <a:prstGeom prst="rect">
            <a:avLst/>
          </a:prstGeom>
        </p:spPr>
      </p:pic>
      <p:pic>
        <p:nvPicPr>
          <p:cNvPr id="4" name="Resim 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DAE3F1D-B6E8-56E0-A0DB-67B48457C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484" y="3999675"/>
            <a:ext cx="3869657" cy="2012220"/>
          </a:xfrm>
          <a:prstGeom prst="rect">
            <a:avLst/>
          </a:prstGeom>
        </p:spPr>
      </p:pic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845A459F-34D3-5924-5491-DB5C0760D4F6}"/>
              </a:ext>
            </a:extLst>
          </p:cNvPr>
          <p:cNvCxnSpPr>
            <a:cxnSpLocks/>
          </p:cNvCxnSpPr>
          <p:nvPr/>
        </p:nvCxnSpPr>
        <p:spPr>
          <a:xfrm>
            <a:off x="8046720" y="3276600"/>
            <a:ext cx="3556000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17A7B72D-E95B-98C7-0596-A9FC83CE2343}"/>
              </a:ext>
            </a:extLst>
          </p:cNvPr>
          <p:cNvCxnSpPr/>
          <p:nvPr/>
        </p:nvCxnSpPr>
        <p:spPr>
          <a:xfrm>
            <a:off x="7661656" y="1309963"/>
            <a:ext cx="0" cy="3734754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yazı tipi, metin, grafik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C9BE55-47D5-6867-D813-6F6C1AEE3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5536" y="3562338"/>
            <a:ext cx="948605" cy="349259"/>
          </a:xfrm>
          <a:prstGeom prst="rect">
            <a:avLst/>
          </a:prstGeom>
        </p:spPr>
      </p:pic>
      <p:cxnSp>
        <p:nvCxnSpPr>
          <p:cNvPr id="20" name="Bağlayıcı: Eğri 19">
            <a:extLst>
              <a:ext uri="{FF2B5EF4-FFF2-40B4-BE49-F238E27FC236}">
                <a16:creationId xmlns:a16="http://schemas.microsoft.com/office/drawing/2014/main" id="{4B8C5205-B036-D4D1-DD28-BA667CBDAA72}"/>
              </a:ext>
            </a:extLst>
          </p:cNvPr>
          <p:cNvCxnSpPr>
            <a:endCxn id="16" idx="3"/>
          </p:cNvCxnSpPr>
          <p:nvPr/>
        </p:nvCxnSpPr>
        <p:spPr>
          <a:xfrm rot="5400000" flipH="1" flipV="1">
            <a:off x="11174394" y="4165294"/>
            <a:ext cx="1028072" cy="171421"/>
          </a:xfrm>
          <a:prstGeom prst="curvedConnector4">
            <a:avLst>
              <a:gd name="adj1" fmla="val 41507"/>
              <a:gd name="adj2" fmla="val 233356"/>
            </a:avLst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Resim 2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648DC3F-02FB-1FD5-B655-988F609DF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20" y="2421339"/>
            <a:ext cx="1167938" cy="818584"/>
          </a:xfrm>
          <a:prstGeom prst="rect">
            <a:avLst/>
          </a:prstGeom>
        </p:spPr>
      </p:pic>
      <p:cxnSp>
        <p:nvCxnSpPr>
          <p:cNvPr id="24" name="Bağlayıcı: Eğri 23">
            <a:extLst>
              <a:ext uri="{FF2B5EF4-FFF2-40B4-BE49-F238E27FC236}">
                <a16:creationId xmlns:a16="http://schemas.microsoft.com/office/drawing/2014/main" id="{444EE28B-5963-D6A9-BB0E-4F037A4F1E30}"/>
              </a:ext>
            </a:extLst>
          </p:cNvPr>
          <p:cNvCxnSpPr>
            <a:endCxn id="3" idx="2"/>
          </p:cNvCxnSpPr>
          <p:nvPr/>
        </p:nvCxnSpPr>
        <p:spPr>
          <a:xfrm rot="16200000" flipH="1">
            <a:off x="9457324" y="2039351"/>
            <a:ext cx="670644" cy="93332"/>
          </a:xfrm>
          <a:prstGeom prst="curvedConnector3">
            <a:avLst>
              <a:gd name="adj1" fmla="val 134087"/>
            </a:avLst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8EA52B40-1F01-151C-C872-BB2D8D6D1B3B}"/>
              </a:ext>
            </a:extLst>
          </p:cNvPr>
          <p:cNvSpPr txBox="1"/>
          <p:nvPr/>
        </p:nvSpPr>
        <p:spPr>
          <a:xfrm>
            <a:off x="2388977" y="27003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RANDEVU OLUŞTURMA</a:t>
            </a:r>
          </a:p>
        </p:txBody>
      </p:sp>
      <p:pic>
        <p:nvPicPr>
          <p:cNvPr id="28" name="Resim 27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1CDF4BC-F790-AE8C-B5AA-63C1802E01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4601" y="-801102"/>
            <a:ext cx="8460203" cy="8460203"/>
          </a:xfrm>
          <a:prstGeom prst="rect">
            <a:avLst/>
          </a:prstGeom>
        </p:spPr>
      </p:pic>
      <p:pic>
        <p:nvPicPr>
          <p:cNvPr id="30" name="Resim 29" descr="metin, ekran görüntüsü, yazı tipi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1408982-D79A-C996-66C3-E436FDCF3D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278" y="4441670"/>
            <a:ext cx="1326210" cy="2212734"/>
          </a:xfrm>
          <a:prstGeom prst="rect">
            <a:avLst/>
          </a:prstGeom>
        </p:spPr>
      </p:pic>
      <p:pic>
        <p:nvPicPr>
          <p:cNvPr id="37" name="Resim 36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4704CD7-D97B-2BB6-0C1F-52D6374FB4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179267"/>
            <a:ext cx="3341630" cy="2907333"/>
          </a:xfrm>
          <a:prstGeom prst="rect">
            <a:avLst/>
          </a:prstGeom>
        </p:spPr>
      </p:pic>
      <p:cxnSp>
        <p:nvCxnSpPr>
          <p:cNvPr id="32" name="Düz Bağlayıcı 31">
            <a:extLst>
              <a:ext uri="{FF2B5EF4-FFF2-40B4-BE49-F238E27FC236}">
                <a16:creationId xmlns:a16="http://schemas.microsoft.com/office/drawing/2014/main" id="{6FA55E3E-FCC1-AD18-952B-6DC2595E6C06}"/>
              </a:ext>
            </a:extLst>
          </p:cNvPr>
          <p:cNvCxnSpPr/>
          <p:nvPr/>
        </p:nvCxnSpPr>
        <p:spPr>
          <a:xfrm>
            <a:off x="7661656" y="812800"/>
            <a:ext cx="0" cy="937895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7CF972D-4F41-49E2-20BC-51BEB0DA1E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1272" y="6151589"/>
            <a:ext cx="542544" cy="506131"/>
          </a:xfrm>
          <a:prstGeom prst="rect">
            <a:avLst/>
          </a:prstGeom>
        </p:spPr>
      </p:pic>
      <p:pic>
        <p:nvPicPr>
          <p:cNvPr id="34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B63FA7C-798D-6A2D-2F83-D0822DF1C8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0" y="6351869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95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4F593D5-DB8B-A71F-EDAA-1F93CBAC4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1265984"/>
            <a:ext cx="6612858" cy="3184096"/>
          </a:xfrm>
          <a:prstGeom prst="rect">
            <a:avLst/>
          </a:prstGeom>
        </p:spPr>
      </p:pic>
      <p:pic>
        <p:nvPicPr>
          <p:cNvPr id="9" name="Resim 8" descr="metin, ekran görüntüsü, yazı tip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9D659AE-1F87-2F07-B6F1-B287C15D5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2303782"/>
            <a:ext cx="2009765" cy="4292595"/>
          </a:xfrm>
          <a:prstGeom prst="rect">
            <a:avLst/>
          </a:prstGeom>
        </p:spPr>
      </p:pic>
      <p:pic>
        <p:nvPicPr>
          <p:cNvPr id="11" name="Resim 10" descr="metin, ekran görüntüsü, yazı tip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47573BC-6A00-364E-D04E-FB14F9E5B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912" y="280464"/>
            <a:ext cx="2064408" cy="4610511"/>
          </a:xfrm>
          <a:prstGeom prst="rect">
            <a:avLst/>
          </a:prstGeom>
        </p:spPr>
      </p:pic>
      <p:pic>
        <p:nvPicPr>
          <p:cNvPr id="12" name="Resim 11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5993901-C00C-4E5F-17E8-155DC95946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147" y="-665237"/>
            <a:ext cx="7603747" cy="7603747"/>
          </a:xfrm>
          <a:prstGeom prst="rect">
            <a:avLst/>
          </a:prstGeom>
        </p:spPr>
      </p:pic>
      <p:pic>
        <p:nvPicPr>
          <p:cNvPr id="13" name="Resim 12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AA2EB1A-11BB-A927-8FFE-8FB696144C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417" y="1841640"/>
            <a:ext cx="5012063" cy="5585320"/>
          </a:xfrm>
          <a:prstGeom prst="rect">
            <a:avLst/>
          </a:prstGeom>
        </p:spPr>
      </p:pic>
      <p:pic>
        <p:nvPicPr>
          <p:cNvPr id="14" name="Resim 13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56C5707-8223-778E-FC61-F04E3B6667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513" y="0"/>
            <a:ext cx="5440527" cy="5770880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CD61FACA-8B98-07BF-249C-59FDB2546ADE}"/>
              </a:ext>
            </a:extLst>
          </p:cNvPr>
          <p:cNvSpPr txBox="1"/>
          <p:nvPr/>
        </p:nvSpPr>
        <p:spPr>
          <a:xfrm>
            <a:off x="2381309" y="201413"/>
            <a:ext cx="785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RANDEVU İŞLEMLERİ</a:t>
            </a:r>
          </a:p>
        </p:txBody>
      </p:sp>
      <p:cxnSp>
        <p:nvCxnSpPr>
          <p:cNvPr id="16" name="Düz Bağlayıcı 15">
            <a:extLst>
              <a:ext uri="{FF2B5EF4-FFF2-40B4-BE49-F238E27FC236}">
                <a16:creationId xmlns:a16="http://schemas.microsoft.com/office/drawing/2014/main" id="{6CC12EEE-3516-F6F1-8AA9-29CB9E3D2C3F}"/>
              </a:ext>
            </a:extLst>
          </p:cNvPr>
          <p:cNvCxnSpPr>
            <a:cxnSpLocks/>
          </p:cNvCxnSpPr>
          <p:nvPr/>
        </p:nvCxnSpPr>
        <p:spPr>
          <a:xfrm>
            <a:off x="7030205" y="705125"/>
            <a:ext cx="0" cy="435356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D867A8F-C2C0-9933-F6F5-305106778F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1272" y="6181021"/>
            <a:ext cx="542544" cy="506131"/>
          </a:xfrm>
          <a:prstGeom prst="rect">
            <a:avLst/>
          </a:prstGeom>
        </p:spPr>
      </p:pic>
      <p:pic>
        <p:nvPicPr>
          <p:cNvPr id="18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D845AC7-5DA0-B94B-E63E-C3AF640B89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-30737" y="6384854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7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esim 19" descr="metin, ekran görüntüsü, yazı tip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B377F01-E966-5914-FD21-6407F7E71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593" y="3810000"/>
            <a:ext cx="1336683" cy="2823555"/>
          </a:xfrm>
          <a:prstGeom prst="rect">
            <a:avLst/>
          </a:prstGeom>
        </p:spPr>
      </p:pic>
      <p:pic>
        <p:nvPicPr>
          <p:cNvPr id="17" name="Resim 16" descr="metin, ekran görüntüsü, yazı tip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A017678-5524-09D9-DAD5-3D9D864AC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559" y="3713185"/>
            <a:ext cx="1342095" cy="2920370"/>
          </a:xfrm>
          <a:prstGeom prst="rect">
            <a:avLst/>
          </a:prstGeom>
        </p:spPr>
      </p:pic>
      <p:pic>
        <p:nvPicPr>
          <p:cNvPr id="5" name="Resim 4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260C97A-C22B-0EDB-0E55-68758CB8B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"/>
          <a:stretch>
            <a:fillRect/>
          </a:stretch>
        </p:blipFill>
        <p:spPr>
          <a:xfrm>
            <a:off x="867362" y="309878"/>
            <a:ext cx="4724569" cy="229464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Resim 2" descr="metin, yazılım, web sayfası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E39775C-1757-8BA3-7769-EE835F3F1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34" y="368210"/>
            <a:ext cx="4732940" cy="223631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Resim 6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6074EDF-3172-8CC3-CE19-1EC0074A7E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35" y="-1002880"/>
            <a:ext cx="5417220" cy="5417220"/>
          </a:xfrm>
          <a:prstGeom prst="rect">
            <a:avLst/>
          </a:prstGeom>
        </p:spPr>
      </p:pic>
      <p:pic>
        <p:nvPicPr>
          <p:cNvPr id="8" name="Resim 7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22A7BA4-A4FF-E2EB-50A9-7909349177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667" y="-1002880"/>
            <a:ext cx="5417220" cy="5417220"/>
          </a:xfrm>
          <a:prstGeom prst="rect">
            <a:avLst/>
          </a:prstGeom>
        </p:spPr>
      </p:pic>
      <p:pic>
        <p:nvPicPr>
          <p:cNvPr id="11" name="Resim 10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23AAC69-F0EF-7A7D-B093-6E5EC1E6EA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25" y="3454360"/>
            <a:ext cx="3341630" cy="3729776"/>
          </a:xfrm>
          <a:prstGeom prst="rect">
            <a:avLst/>
          </a:prstGeom>
        </p:spPr>
      </p:pic>
      <p:pic>
        <p:nvPicPr>
          <p:cNvPr id="18" name="Resim 17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68762C8-DE8F-71C6-442A-B831E6BD03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119" y="3454360"/>
            <a:ext cx="3341630" cy="3729776"/>
          </a:xfrm>
          <a:prstGeom prst="rect">
            <a:avLst/>
          </a:prstGeom>
        </p:spPr>
      </p:pic>
      <p:sp>
        <p:nvSpPr>
          <p:cNvPr id="22" name="Metin kutusu 21">
            <a:extLst>
              <a:ext uri="{FF2B5EF4-FFF2-40B4-BE49-F238E27FC236}">
                <a16:creationId xmlns:a16="http://schemas.microsoft.com/office/drawing/2014/main" id="{D4A30A8C-DB54-8156-37A5-172F090CC335}"/>
              </a:ext>
            </a:extLst>
          </p:cNvPr>
          <p:cNvSpPr txBox="1"/>
          <p:nvPr/>
        </p:nvSpPr>
        <p:spPr>
          <a:xfrm>
            <a:off x="4831734" y="61204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SİSTEM İŞLEMLERİ</a:t>
            </a:r>
          </a:p>
        </p:txBody>
      </p:sp>
      <p:cxnSp>
        <p:nvCxnSpPr>
          <p:cNvPr id="24" name="Düz Bağlayıcı 23">
            <a:extLst>
              <a:ext uri="{FF2B5EF4-FFF2-40B4-BE49-F238E27FC236}">
                <a16:creationId xmlns:a16="http://schemas.microsoft.com/office/drawing/2014/main" id="{BB9924A0-4043-06CA-110B-9F57FFA0699D}"/>
              </a:ext>
            </a:extLst>
          </p:cNvPr>
          <p:cNvCxnSpPr/>
          <p:nvPr/>
        </p:nvCxnSpPr>
        <p:spPr>
          <a:xfrm>
            <a:off x="1403027" y="3428998"/>
            <a:ext cx="4188904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üz Bağlayıcı 24">
            <a:extLst>
              <a:ext uri="{FF2B5EF4-FFF2-40B4-BE49-F238E27FC236}">
                <a16:creationId xmlns:a16="http://schemas.microsoft.com/office/drawing/2014/main" id="{5AEBFF87-4DFC-5832-9615-C4E773EDCB24}"/>
              </a:ext>
            </a:extLst>
          </p:cNvPr>
          <p:cNvCxnSpPr/>
          <p:nvPr/>
        </p:nvCxnSpPr>
        <p:spPr>
          <a:xfrm>
            <a:off x="6610334" y="3428998"/>
            <a:ext cx="4188904" cy="0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>
            <a:extLst>
              <a:ext uri="{FF2B5EF4-FFF2-40B4-BE49-F238E27FC236}">
                <a16:creationId xmlns:a16="http://schemas.microsoft.com/office/drawing/2014/main" id="{13698BB9-9C8D-A75E-A1D4-6452A4EDB0D8}"/>
              </a:ext>
            </a:extLst>
          </p:cNvPr>
          <p:cNvCxnSpPr/>
          <p:nvPr/>
        </p:nvCxnSpPr>
        <p:spPr>
          <a:xfrm>
            <a:off x="6091214" y="1111170"/>
            <a:ext cx="11040" cy="4645103"/>
          </a:xfrm>
          <a:prstGeom prst="line">
            <a:avLst/>
          </a:prstGeom>
          <a:ln>
            <a:solidFill>
              <a:srgbClr val="21C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Resim 3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27BC8C9-475E-F81F-6653-B9847551B3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662" y="3191316"/>
            <a:ext cx="2444143" cy="1088516"/>
          </a:xfrm>
          <a:prstGeom prst="rect">
            <a:avLst/>
          </a:prstGeom>
        </p:spPr>
      </p:pic>
      <p:cxnSp>
        <p:nvCxnSpPr>
          <p:cNvPr id="35" name="Bağlayıcı: Eğri 34">
            <a:extLst>
              <a:ext uri="{FF2B5EF4-FFF2-40B4-BE49-F238E27FC236}">
                <a16:creationId xmlns:a16="http://schemas.microsoft.com/office/drawing/2014/main" id="{F1A32E7D-59AC-AD32-D0BD-79305E8D72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19988" y="1986666"/>
            <a:ext cx="1216212" cy="1193087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E78222A-8945-277A-B5FA-0465A0581D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3208"/>
            <a:ext cx="542544" cy="506131"/>
          </a:xfrm>
          <a:prstGeom prst="rect">
            <a:avLst/>
          </a:prstGeom>
        </p:spPr>
      </p:pic>
      <p:pic>
        <p:nvPicPr>
          <p:cNvPr id="4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A49850E-2277-6420-69B0-DAD7ACFDCB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378184" y="203488"/>
            <a:ext cx="542544" cy="506131"/>
          </a:xfrm>
          <a:prstGeom prst="rect">
            <a:avLst/>
          </a:prstGeom>
        </p:spPr>
      </p:pic>
      <p:pic>
        <p:nvPicPr>
          <p:cNvPr id="41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4D9C7C0-6D03-B072-DA08-3E4D806F64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9813" y="6181741"/>
            <a:ext cx="542544" cy="506131"/>
          </a:xfrm>
          <a:prstGeom prst="rect">
            <a:avLst/>
          </a:prstGeom>
        </p:spPr>
      </p:pic>
      <p:pic>
        <p:nvPicPr>
          <p:cNvPr id="42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D65E275-7DB9-49A3-CD2B-9678130FC0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-16006" y="6383456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95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78F16E8-8AF3-EA6A-96EA-7779F963D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0" y="1106720"/>
            <a:ext cx="7415684" cy="3619978"/>
          </a:xfrm>
          <a:prstGeom prst="rect">
            <a:avLst/>
          </a:prstGeom>
        </p:spPr>
      </p:pic>
      <p:pic>
        <p:nvPicPr>
          <p:cNvPr id="4" name="Resim 3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FD0A245-8384-2AC8-367F-D546F6B83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780" y="-916602"/>
            <a:ext cx="8460203" cy="8460203"/>
          </a:xfrm>
          <a:prstGeom prst="rect">
            <a:avLst/>
          </a:prstGeom>
        </p:spPr>
      </p:pic>
      <p:pic>
        <p:nvPicPr>
          <p:cNvPr id="7" name="Resim 6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603C3EC-A16E-A70F-2E45-0F5F645A6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65555"/>
            <a:ext cx="1174101" cy="2589545"/>
          </a:xfrm>
          <a:prstGeom prst="rect">
            <a:avLst/>
          </a:prstGeom>
        </p:spPr>
      </p:pic>
      <p:pic>
        <p:nvPicPr>
          <p:cNvPr id="5" name="Resim 4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6FA7E24-A3BD-B3EC-CE49-0D946B6462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29" y="3918926"/>
            <a:ext cx="3001641" cy="3350338"/>
          </a:xfrm>
          <a:prstGeom prst="rect">
            <a:avLst/>
          </a:prstGeom>
        </p:spPr>
      </p:pic>
      <p:pic>
        <p:nvPicPr>
          <p:cNvPr id="10" name="Resim 9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6B2150E-4FEE-1865-F6DE-7B3B34D85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49" t="72276" r="27197" b="7579"/>
          <a:stretch>
            <a:fillRect/>
          </a:stretch>
        </p:blipFill>
        <p:spPr>
          <a:xfrm flipV="1">
            <a:off x="5908055" y="3826204"/>
            <a:ext cx="187945" cy="358401"/>
          </a:xfrm>
          <a:prstGeom prst="rect">
            <a:avLst/>
          </a:prstGeom>
        </p:spPr>
      </p:pic>
      <p:pic>
        <p:nvPicPr>
          <p:cNvPr id="11" name="Resim 10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FEDED9A-8E34-A31D-6245-6719ED77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49" t="72276" r="27197" b="7579"/>
          <a:stretch>
            <a:fillRect/>
          </a:stretch>
        </p:blipFill>
        <p:spPr>
          <a:xfrm flipV="1">
            <a:off x="5926778" y="3807154"/>
            <a:ext cx="187945" cy="358401"/>
          </a:xfrm>
          <a:prstGeom prst="rect">
            <a:avLst/>
          </a:prstGeom>
        </p:spPr>
      </p:pic>
      <p:pic>
        <p:nvPicPr>
          <p:cNvPr id="12" name="Resim 11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811644E-C562-A8B0-ABF6-27F458EA4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49" t="72276" r="27197" b="7579"/>
          <a:stretch>
            <a:fillRect/>
          </a:stretch>
        </p:blipFill>
        <p:spPr>
          <a:xfrm flipV="1">
            <a:off x="6051094" y="4067451"/>
            <a:ext cx="54268" cy="103486"/>
          </a:xfrm>
          <a:prstGeom prst="rect">
            <a:avLst/>
          </a:prstGeom>
        </p:spPr>
      </p:pic>
      <p:pic>
        <p:nvPicPr>
          <p:cNvPr id="13" name="Resim 12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06A08BE-F6CE-FC54-5641-3090C9DCF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49" t="72276" r="27197" b="7579"/>
          <a:stretch>
            <a:fillRect/>
          </a:stretch>
        </p:blipFill>
        <p:spPr>
          <a:xfrm>
            <a:off x="6064323" y="4097421"/>
            <a:ext cx="45719" cy="87184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1BC9FDCA-E34C-B511-DA88-B6FBA9207175}"/>
              </a:ext>
            </a:extLst>
          </p:cNvPr>
          <p:cNvSpPr txBox="1"/>
          <p:nvPr/>
        </p:nvSpPr>
        <p:spPr>
          <a:xfrm>
            <a:off x="2545531" y="6212026"/>
            <a:ext cx="624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YÖNETİCİ PANELİ</a:t>
            </a:r>
          </a:p>
        </p:txBody>
      </p:sp>
      <p:pic>
        <p:nvPicPr>
          <p:cNvPr id="17" name="Resim 16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1ED8AD3-5C30-FA9B-9D01-EEEA8582D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3619" y="407890"/>
            <a:ext cx="4259031" cy="2378581"/>
          </a:xfrm>
          <a:prstGeom prst="rect">
            <a:avLst/>
          </a:prstGeom>
        </p:spPr>
      </p:pic>
      <p:pic>
        <p:nvPicPr>
          <p:cNvPr id="19" name="Resim 18" descr="metin, yazı tipi, ekran görüntüsü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09CAF4C-AAC0-5B61-4394-140067ADA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828" y="3087000"/>
            <a:ext cx="3612193" cy="739204"/>
          </a:xfrm>
          <a:prstGeom prst="rect">
            <a:avLst/>
          </a:prstGeom>
        </p:spPr>
      </p:pic>
      <p:cxnSp>
        <p:nvCxnSpPr>
          <p:cNvPr id="23" name="Bağlayıcı: Eğri 22">
            <a:extLst>
              <a:ext uri="{FF2B5EF4-FFF2-40B4-BE49-F238E27FC236}">
                <a16:creationId xmlns:a16="http://schemas.microsoft.com/office/drawing/2014/main" id="{635DE32D-610F-F204-12E2-0EB7A6B37522}"/>
              </a:ext>
            </a:extLst>
          </p:cNvPr>
          <p:cNvCxnSpPr/>
          <p:nvPr/>
        </p:nvCxnSpPr>
        <p:spPr>
          <a:xfrm flipV="1">
            <a:off x="5020056" y="868680"/>
            <a:ext cx="4028117" cy="1051560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ağlayıcı: Eğri 24">
            <a:extLst>
              <a:ext uri="{FF2B5EF4-FFF2-40B4-BE49-F238E27FC236}">
                <a16:creationId xmlns:a16="http://schemas.microsoft.com/office/drawing/2014/main" id="{ED87E757-3EEE-80F3-211D-9B55F6034479}"/>
              </a:ext>
            </a:extLst>
          </p:cNvPr>
          <p:cNvCxnSpPr/>
          <p:nvPr/>
        </p:nvCxnSpPr>
        <p:spPr>
          <a:xfrm rot="16200000" flipH="1">
            <a:off x="10442448" y="2359152"/>
            <a:ext cx="1673352" cy="466344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esim 26" descr="metin, yazı tipi, ekran görüntüsü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4F55E26-34A8-510A-6A5F-A99E92EFB1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8907" y="4165555"/>
            <a:ext cx="4183743" cy="579170"/>
          </a:xfrm>
          <a:prstGeom prst="rect">
            <a:avLst/>
          </a:prstGeom>
        </p:spPr>
      </p:pic>
      <p:cxnSp>
        <p:nvCxnSpPr>
          <p:cNvPr id="29" name="Bağlayıcı: Eğri 28">
            <a:extLst>
              <a:ext uri="{FF2B5EF4-FFF2-40B4-BE49-F238E27FC236}">
                <a16:creationId xmlns:a16="http://schemas.microsoft.com/office/drawing/2014/main" id="{3FE737DD-31C0-CDE2-44F9-ACC0AE960D46}"/>
              </a:ext>
            </a:extLst>
          </p:cNvPr>
          <p:cNvCxnSpPr/>
          <p:nvPr/>
        </p:nvCxnSpPr>
        <p:spPr>
          <a:xfrm>
            <a:off x="6051094" y="2592324"/>
            <a:ext cx="2132776" cy="1732788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CA9674-A4AE-EF64-F640-7988791509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1272" y="6151589"/>
            <a:ext cx="542544" cy="506131"/>
          </a:xfrm>
          <a:prstGeom prst="rect">
            <a:avLst/>
          </a:prstGeom>
        </p:spPr>
      </p:pic>
      <p:pic>
        <p:nvPicPr>
          <p:cNvPr id="32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D56C985-FD19-1394-F7B0-AF741C59CF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0" y="6351869"/>
            <a:ext cx="542544" cy="506131"/>
          </a:xfrm>
          <a:prstGeom prst="rect">
            <a:avLst/>
          </a:prstGeom>
        </p:spPr>
      </p:pic>
      <p:pic>
        <p:nvPicPr>
          <p:cNvPr id="33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61FDA12-ED61-69BB-1468-85CA574C2B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 rot="16200000">
            <a:off x="11700233" y="6373041"/>
            <a:ext cx="542544" cy="506131"/>
          </a:xfrm>
          <a:prstGeom prst="rect">
            <a:avLst/>
          </a:prstGeom>
        </p:spPr>
      </p:pic>
      <p:pic>
        <p:nvPicPr>
          <p:cNvPr id="34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3EA31BF-EDB4-EC34-AD45-C7D8ED28BD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 rot="16200000">
            <a:off x="11447168" y="6151588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51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C17280D-0A33-304C-C9B7-702E140B0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r="15275"/>
          <a:stretch>
            <a:fillRect/>
          </a:stretch>
        </p:blipFill>
        <p:spPr>
          <a:xfrm>
            <a:off x="9159366" y="1841666"/>
            <a:ext cx="2758364" cy="2445069"/>
          </a:xfrm>
          <a:prstGeom prst="rect">
            <a:avLst/>
          </a:prstGeom>
        </p:spPr>
      </p:pic>
      <p:pic>
        <p:nvPicPr>
          <p:cNvPr id="3" name="Resim 2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052F6B8-21C3-6CAA-93DD-A413D3F2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73" y="964640"/>
            <a:ext cx="7487039" cy="3637125"/>
          </a:xfrm>
          <a:prstGeom prst="rect">
            <a:avLst/>
          </a:prstGeom>
        </p:spPr>
      </p:pic>
      <p:pic>
        <p:nvPicPr>
          <p:cNvPr id="6" name="Resim 5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72EBDE4-23BA-6D3D-6D87-7312709C0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113" y="291580"/>
            <a:ext cx="4000447" cy="1365673"/>
          </a:xfrm>
          <a:prstGeom prst="rect">
            <a:avLst/>
          </a:prstGeom>
        </p:spPr>
      </p:pic>
      <p:pic>
        <p:nvPicPr>
          <p:cNvPr id="4" name="Resim 3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E2A644-2C0F-98EC-D94B-BC676EB9B6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810" y="-1165902"/>
            <a:ext cx="8460203" cy="8460203"/>
          </a:xfrm>
          <a:prstGeom prst="rect">
            <a:avLst/>
          </a:prstGeom>
        </p:spPr>
      </p:pic>
      <p:pic>
        <p:nvPicPr>
          <p:cNvPr id="9" name="Resim 8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5FFD6A7-17FF-AE44-A64A-736C147FAA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31" y="4133629"/>
            <a:ext cx="1212302" cy="2595000"/>
          </a:xfrm>
          <a:prstGeom prst="rect">
            <a:avLst/>
          </a:prstGeom>
        </p:spPr>
      </p:pic>
      <p:pic>
        <p:nvPicPr>
          <p:cNvPr id="7" name="Resim 6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03A2EF5-359B-DE2D-9AD8-2C826F183D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745" y="3933933"/>
            <a:ext cx="3105397" cy="3296297"/>
          </a:xfrm>
          <a:prstGeom prst="rect">
            <a:avLst/>
          </a:prstGeom>
        </p:spPr>
      </p:pic>
      <p:cxnSp>
        <p:nvCxnSpPr>
          <p:cNvPr id="15" name="Bağlayıcı: Eğri 14">
            <a:extLst>
              <a:ext uri="{FF2B5EF4-FFF2-40B4-BE49-F238E27FC236}">
                <a16:creationId xmlns:a16="http://schemas.microsoft.com/office/drawing/2014/main" id="{614DCC50-58CC-0B4A-A02C-4DF1156238EE}"/>
              </a:ext>
            </a:extLst>
          </p:cNvPr>
          <p:cNvCxnSpPr>
            <a:cxnSpLocks/>
          </p:cNvCxnSpPr>
          <p:nvPr/>
        </p:nvCxnSpPr>
        <p:spPr>
          <a:xfrm flipV="1">
            <a:off x="7048982" y="1180757"/>
            <a:ext cx="1274078" cy="1180478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ağlayıcı: Eğri 16">
            <a:extLst>
              <a:ext uri="{FF2B5EF4-FFF2-40B4-BE49-F238E27FC236}">
                <a16:creationId xmlns:a16="http://schemas.microsoft.com/office/drawing/2014/main" id="{66B15D36-20FF-9F91-7251-E6A885353014}"/>
              </a:ext>
            </a:extLst>
          </p:cNvPr>
          <p:cNvCxnSpPr>
            <a:cxnSpLocks/>
          </p:cNvCxnSpPr>
          <p:nvPr/>
        </p:nvCxnSpPr>
        <p:spPr>
          <a:xfrm flipV="1">
            <a:off x="7123778" y="2170697"/>
            <a:ext cx="2898046" cy="1172927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E4FC9D5-F85E-EE91-A21A-8C8921435AE2}"/>
              </a:ext>
            </a:extLst>
          </p:cNvPr>
          <p:cNvSpPr txBox="1"/>
          <p:nvPr/>
        </p:nvSpPr>
        <p:spPr>
          <a:xfrm>
            <a:off x="2490601" y="6080481"/>
            <a:ext cx="629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MAKİNE YÖNETİMİ</a:t>
            </a:r>
          </a:p>
        </p:txBody>
      </p:sp>
      <p:pic>
        <p:nvPicPr>
          <p:cNvPr id="10" name="Resim 9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2C4ADE6-14E0-AF81-70CA-DBA5F6FAD6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2" r="13207"/>
          <a:stretch>
            <a:fillRect/>
          </a:stretch>
        </p:blipFill>
        <p:spPr>
          <a:xfrm>
            <a:off x="7816669" y="4471148"/>
            <a:ext cx="2762939" cy="2309710"/>
          </a:xfrm>
          <a:prstGeom prst="rect">
            <a:avLst/>
          </a:prstGeom>
        </p:spPr>
      </p:pic>
      <p:cxnSp>
        <p:nvCxnSpPr>
          <p:cNvPr id="14" name="Bağlayıcı: Eğri 13">
            <a:extLst>
              <a:ext uri="{FF2B5EF4-FFF2-40B4-BE49-F238E27FC236}">
                <a16:creationId xmlns:a16="http://schemas.microsoft.com/office/drawing/2014/main" id="{005B7318-8F2E-0A15-1BEA-AA38ED3E4010}"/>
              </a:ext>
            </a:extLst>
          </p:cNvPr>
          <p:cNvCxnSpPr>
            <a:cxnSpLocks/>
          </p:cNvCxnSpPr>
          <p:nvPr/>
        </p:nvCxnSpPr>
        <p:spPr>
          <a:xfrm rot="5400000">
            <a:off x="9118669" y="4065682"/>
            <a:ext cx="2015401" cy="1259200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52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AC0D6A4-3597-C44D-327E-E029BAADF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9" y="914399"/>
            <a:ext cx="7627716" cy="3668777"/>
          </a:xfrm>
          <a:prstGeom prst="rect">
            <a:avLst/>
          </a:prstGeom>
        </p:spPr>
      </p:pic>
      <p:pic>
        <p:nvPicPr>
          <p:cNvPr id="4" name="Resim 3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3A48362-F94A-67F0-3CA6-73C07CF42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623" y="-1150092"/>
            <a:ext cx="8460203" cy="8460203"/>
          </a:xfrm>
          <a:prstGeom prst="rect">
            <a:avLst/>
          </a:prstGeom>
        </p:spPr>
      </p:pic>
      <p:pic>
        <p:nvPicPr>
          <p:cNvPr id="9" name="Resim 8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B16CCC7-7CC7-98EF-FE3F-1835EADBE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563" y="3950547"/>
            <a:ext cx="1526113" cy="2697120"/>
          </a:xfrm>
          <a:prstGeom prst="rect">
            <a:avLst/>
          </a:prstGeom>
        </p:spPr>
      </p:pic>
      <p:pic>
        <p:nvPicPr>
          <p:cNvPr id="5" name="Resim 4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A9A27C-1EA0-942F-34DB-7A25ED80B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435" y="3635107"/>
            <a:ext cx="3792118" cy="3461769"/>
          </a:xfrm>
          <a:prstGeom prst="rect">
            <a:avLst/>
          </a:prstGeom>
        </p:spPr>
      </p:pic>
      <p:pic>
        <p:nvPicPr>
          <p:cNvPr id="11" name="Resim 10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633B1D4-2294-01BF-C8AF-8A80A38179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993" y="567725"/>
            <a:ext cx="4016088" cy="1707028"/>
          </a:xfrm>
          <a:prstGeom prst="rect">
            <a:avLst/>
          </a:prstGeom>
        </p:spPr>
      </p:pic>
      <p:cxnSp>
        <p:nvCxnSpPr>
          <p:cNvPr id="15" name="Bağlayıcı: Eğri 14">
            <a:extLst>
              <a:ext uri="{FF2B5EF4-FFF2-40B4-BE49-F238E27FC236}">
                <a16:creationId xmlns:a16="http://schemas.microsoft.com/office/drawing/2014/main" id="{7BDFD4A4-D2DF-072C-8543-609F1ECB5587}"/>
              </a:ext>
            </a:extLst>
          </p:cNvPr>
          <p:cNvCxnSpPr/>
          <p:nvPr/>
        </p:nvCxnSpPr>
        <p:spPr>
          <a:xfrm flipV="1">
            <a:off x="6096000" y="2048719"/>
            <a:ext cx="2515565" cy="358815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Resim 16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2D4C2B8-DBD5-19E4-CB82-D8B0443870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993" y="2831271"/>
            <a:ext cx="4016089" cy="1181202"/>
          </a:xfrm>
          <a:prstGeom prst="rect">
            <a:avLst/>
          </a:prstGeom>
        </p:spPr>
      </p:pic>
      <p:cxnSp>
        <p:nvCxnSpPr>
          <p:cNvPr id="19" name="Bağlayıcı: Eğri 18">
            <a:extLst>
              <a:ext uri="{FF2B5EF4-FFF2-40B4-BE49-F238E27FC236}">
                <a16:creationId xmlns:a16="http://schemas.microsoft.com/office/drawing/2014/main" id="{70F83FCC-3947-77AB-720C-2BB202411057}"/>
              </a:ext>
            </a:extLst>
          </p:cNvPr>
          <p:cNvCxnSpPr/>
          <p:nvPr/>
        </p:nvCxnSpPr>
        <p:spPr>
          <a:xfrm>
            <a:off x="6539696" y="2916820"/>
            <a:ext cx="1862857" cy="821803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EB824BAE-3D1B-CCFF-02D8-B883C13C3354}"/>
              </a:ext>
            </a:extLst>
          </p:cNvPr>
          <p:cNvSpPr txBox="1"/>
          <p:nvPr/>
        </p:nvSpPr>
        <p:spPr>
          <a:xfrm>
            <a:off x="2490601" y="6080481"/>
            <a:ext cx="629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ÖĞRENCİ YÖNETİMİ</a:t>
            </a:r>
          </a:p>
        </p:txBody>
      </p:sp>
      <p:pic>
        <p:nvPicPr>
          <p:cNvPr id="21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E61ABCB-C40A-368F-48C5-9BD5E4FDA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1272" y="6151589"/>
            <a:ext cx="542544" cy="506131"/>
          </a:xfrm>
          <a:prstGeom prst="rect">
            <a:avLst/>
          </a:prstGeom>
        </p:spPr>
      </p:pic>
      <p:pic>
        <p:nvPicPr>
          <p:cNvPr id="22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61A609D-736F-7D24-C617-7A4AA1117A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0" y="6351869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bilgisayar simg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34F855-B505-8E49-56B6-A2E76CD8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29" y="931762"/>
            <a:ext cx="5575209" cy="2813153"/>
          </a:xfrm>
          <a:prstGeom prst="rect">
            <a:avLst/>
          </a:prstGeom>
        </p:spPr>
      </p:pic>
      <p:pic>
        <p:nvPicPr>
          <p:cNvPr id="5" name="Resim 4" descr="metin, yazılım, web sayfası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1792F41-337F-BB8A-89A4-7832334A9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631" y="1081947"/>
            <a:ext cx="5519108" cy="2662968"/>
          </a:xfrm>
          <a:prstGeom prst="rect">
            <a:avLst/>
          </a:prstGeom>
        </p:spPr>
      </p:pic>
      <p:pic>
        <p:nvPicPr>
          <p:cNvPr id="6" name="Resim 5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7306B7D-F2E3-29EF-CACB-492406AA69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297" y="-532436"/>
            <a:ext cx="6351162" cy="6351162"/>
          </a:xfrm>
          <a:prstGeom prst="rect">
            <a:avLst/>
          </a:prstGeom>
        </p:spPr>
      </p:pic>
      <p:pic>
        <p:nvPicPr>
          <p:cNvPr id="8" name="Resim 7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B53C700-8FEF-6E7F-5DC1-A109C21F8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604" y="-532436"/>
            <a:ext cx="6351162" cy="6351162"/>
          </a:xfrm>
          <a:prstGeom prst="rect">
            <a:avLst/>
          </a:prstGeom>
        </p:spPr>
      </p:pic>
      <p:pic>
        <p:nvPicPr>
          <p:cNvPr id="14" name="Resim 13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014B81E-4E2A-21C2-4871-5FB4754062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858" y="3513512"/>
            <a:ext cx="1359994" cy="2199191"/>
          </a:xfrm>
          <a:prstGeom prst="rect">
            <a:avLst/>
          </a:prstGeom>
        </p:spPr>
      </p:pic>
      <p:pic>
        <p:nvPicPr>
          <p:cNvPr id="16" name="Resim 15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8A1F037-71BD-AF50-0965-ABA073562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081" y="3429000"/>
            <a:ext cx="1303892" cy="2194559"/>
          </a:xfrm>
          <a:prstGeom prst="rect">
            <a:avLst/>
          </a:prstGeom>
        </p:spPr>
      </p:pic>
      <p:pic>
        <p:nvPicPr>
          <p:cNvPr id="9" name="Resim 8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4D4BEE-C3EA-F21D-64D0-588C2B3DD9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95" y="3247275"/>
            <a:ext cx="3449520" cy="2907333"/>
          </a:xfrm>
          <a:prstGeom prst="rect">
            <a:avLst/>
          </a:prstGeom>
        </p:spPr>
      </p:pic>
      <p:pic>
        <p:nvPicPr>
          <p:cNvPr id="10" name="Resim 9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1DFCBA4-AFFD-B274-0A5D-5974FBF97A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212" y="3159440"/>
            <a:ext cx="3341630" cy="2907333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AF476DCD-1E36-EFC2-DFE9-3EE8DD0CAFD1}"/>
              </a:ext>
            </a:extLst>
          </p:cNvPr>
          <p:cNvSpPr txBox="1"/>
          <p:nvPr/>
        </p:nvSpPr>
        <p:spPr>
          <a:xfrm>
            <a:off x="1242060" y="6022954"/>
            <a:ext cx="6446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REZERVASYON YÖNETİMİ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A5AA0281-5DAB-1DB4-26B6-7E7DF531D1B1}"/>
              </a:ext>
            </a:extLst>
          </p:cNvPr>
          <p:cNvSpPr txBox="1"/>
          <p:nvPr/>
        </p:nvSpPr>
        <p:spPr>
          <a:xfrm>
            <a:off x="7900767" y="5997526"/>
            <a:ext cx="6446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ARIZA YÖNETİMİ</a:t>
            </a:r>
          </a:p>
        </p:txBody>
      </p:sp>
      <p:pic>
        <p:nvPicPr>
          <p:cNvPr id="2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2E79A9-EBAD-FA13-7175-67F25531A0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65629" y="6151589"/>
            <a:ext cx="542544" cy="506131"/>
          </a:xfrm>
          <a:prstGeom prst="rect">
            <a:avLst/>
          </a:prstGeom>
        </p:spPr>
      </p:pic>
      <p:pic>
        <p:nvPicPr>
          <p:cNvPr id="21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78E15F8-325E-EF06-DE21-E42927733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-5643" y="6351869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0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6612E11-FDED-F17B-5337-C767AF7CA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5" y="928581"/>
            <a:ext cx="7186734" cy="3521499"/>
          </a:xfrm>
          <a:prstGeom prst="rect">
            <a:avLst/>
          </a:prstGeom>
        </p:spPr>
      </p:pic>
      <p:pic>
        <p:nvPicPr>
          <p:cNvPr id="4" name="Resim 3" descr="elektronik donanım, metin, bilgisayar, çıkış ciha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18A2A81-1D47-700B-3CC4-58E9CDD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8" y="-930698"/>
            <a:ext cx="8037407" cy="8037407"/>
          </a:xfrm>
          <a:prstGeom prst="rect">
            <a:avLst/>
          </a:prstGeom>
        </p:spPr>
      </p:pic>
      <p:pic>
        <p:nvPicPr>
          <p:cNvPr id="6" name="Resim 5" descr="metin, ekran görüntüsü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94D885-4423-A493-FA97-C8E12522D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896" y="4334333"/>
            <a:ext cx="1057154" cy="2333938"/>
          </a:xfrm>
          <a:prstGeom prst="rect">
            <a:avLst/>
          </a:prstGeom>
        </p:spPr>
      </p:pic>
      <p:pic>
        <p:nvPicPr>
          <p:cNvPr id="10" name="Resim 9" descr="ekran görüntüsü, akıllı telefon, monokrom, tek renkli, siyah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1D226E5-E961-DAB9-3D77-972C800E9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803" y="4085864"/>
            <a:ext cx="2743200" cy="3020846"/>
          </a:xfrm>
          <a:prstGeom prst="rect">
            <a:avLst/>
          </a:prstGeom>
        </p:spPr>
      </p:pic>
      <p:pic>
        <p:nvPicPr>
          <p:cNvPr id="8" name="Resim 7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10E1EF-4500-0BED-2B2E-0CF1262EE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003" y="3093691"/>
            <a:ext cx="3993226" cy="670618"/>
          </a:xfrm>
          <a:prstGeom prst="rect">
            <a:avLst/>
          </a:prstGeom>
        </p:spPr>
      </p:pic>
      <p:cxnSp>
        <p:nvCxnSpPr>
          <p:cNvPr id="11" name="Bağlayıcı: Eğri 10">
            <a:extLst>
              <a:ext uri="{FF2B5EF4-FFF2-40B4-BE49-F238E27FC236}">
                <a16:creationId xmlns:a16="http://schemas.microsoft.com/office/drawing/2014/main" id="{C6671BC5-13C0-B590-5F51-32D99025827E}"/>
              </a:ext>
            </a:extLst>
          </p:cNvPr>
          <p:cNvCxnSpPr/>
          <p:nvPr/>
        </p:nvCxnSpPr>
        <p:spPr>
          <a:xfrm flipV="1">
            <a:off x="7292050" y="3764309"/>
            <a:ext cx="2002421" cy="321555"/>
          </a:xfrm>
          <a:prstGeom prst="curvedConnector3">
            <a:avLst/>
          </a:prstGeom>
          <a:ln>
            <a:solidFill>
              <a:srgbClr val="21C2F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E3F04539-2E1E-8E33-BE98-9AD84EE73056}"/>
              </a:ext>
            </a:extLst>
          </p:cNvPr>
          <p:cNvSpPr txBox="1"/>
          <p:nvPr/>
        </p:nvSpPr>
        <p:spPr>
          <a:xfrm>
            <a:off x="3048965" y="594002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SİSTEM AYARLARI</a:t>
            </a:r>
          </a:p>
        </p:txBody>
      </p:sp>
      <p:pic>
        <p:nvPicPr>
          <p:cNvPr id="14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B6BE87-DB20-FC91-E03C-2B5FB9BB9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3208"/>
            <a:ext cx="542544" cy="506131"/>
          </a:xfrm>
          <a:prstGeom prst="rect">
            <a:avLst/>
          </a:prstGeom>
        </p:spPr>
      </p:pic>
      <p:pic>
        <p:nvPicPr>
          <p:cNvPr id="15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F5F2650-1FCD-8670-8ED6-49C253004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378184" y="203488"/>
            <a:ext cx="542544" cy="506131"/>
          </a:xfrm>
          <a:prstGeom prst="rect">
            <a:avLst/>
          </a:prstGeom>
        </p:spPr>
      </p:pic>
      <p:pic>
        <p:nvPicPr>
          <p:cNvPr id="16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470ADF0-0D27-5280-5700-B6B6F6C0F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271272" y="6158008"/>
            <a:ext cx="542544" cy="506131"/>
          </a:xfrm>
          <a:prstGeom prst="rect">
            <a:avLst/>
          </a:prstGeom>
        </p:spPr>
      </p:pic>
      <p:pic>
        <p:nvPicPr>
          <p:cNvPr id="17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8038491-8E60-DF18-8FB7-6B72DFEF7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0" y="6371530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04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0">
            <a:extLst>
              <a:ext uri="{FF2B5EF4-FFF2-40B4-BE49-F238E27FC236}">
                <a16:creationId xmlns:a16="http://schemas.microsoft.com/office/drawing/2014/main" id="{90C20B63-BB1F-AC61-C616-648FBF02F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129E6FC5-687A-BDEB-E5DB-720746FCA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" name="Rectangle 13">
              <a:extLst>
                <a:ext uri="{FF2B5EF4-FFF2-40B4-BE49-F238E27FC236}">
                  <a16:creationId xmlns:a16="http://schemas.microsoft.com/office/drawing/2014/main" id="{5F2F7B50-1171-A399-8AAC-8CA28779A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14">
              <a:extLst>
                <a:ext uri="{FF2B5EF4-FFF2-40B4-BE49-F238E27FC236}">
                  <a16:creationId xmlns:a16="http://schemas.microsoft.com/office/drawing/2014/main" id="{77A2A87C-4484-5E92-06F1-67D153B4D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00698BD1-CFAD-217A-A784-E52F77928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17">
            <a:extLst>
              <a:ext uri="{FF2B5EF4-FFF2-40B4-BE49-F238E27FC236}">
                <a16:creationId xmlns:a16="http://schemas.microsoft.com/office/drawing/2014/main" id="{213FD365-E224-0971-2021-A4B57EBC1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3AC9F7B-7419-C3EF-5B87-2097432AEC26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37DA9CE-8AB7-9F7B-FABD-BFD1AC546C2A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tr-TR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27F2EC1A-E2C4-03D3-E1A6-ACDE0DD3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24AFFC1-4E8B-8044-3C10-D7A93055B23E}"/>
              </a:ext>
            </a:extLst>
          </p:cNvPr>
          <p:cNvSpPr txBox="1"/>
          <p:nvPr/>
        </p:nvSpPr>
        <p:spPr>
          <a:xfrm>
            <a:off x="3071442" y="1187944"/>
            <a:ext cx="3203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latin typeface="Amasis MT Pro Black" panose="02040A04050005020304" pitchFamily="18" charset="-94"/>
              </a:rPr>
              <a:t>SONUÇ &amp; FAYDA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76418A85-AFFF-EDB8-E413-42B8DA083745}"/>
              </a:ext>
            </a:extLst>
          </p:cNvPr>
          <p:cNvSpPr txBox="1"/>
          <p:nvPr/>
        </p:nvSpPr>
        <p:spPr>
          <a:xfrm>
            <a:off x="716475" y="2872889"/>
            <a:ext cx="111163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SONUÇ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 </a:t>
            </a:r>
            <a:r>
              <a:rPr lang="tr-TR" dirty="0"/>
              <a:t>Yurt çamaşırhanesindeki manuel ve kaotik işleyiş, </a:t>
            </a:r>
            <a:r>
              <a:rPr lang="tr-TR" b="1" dirty="0"/>
              <a:t>otonom bir sisteme</a:t>
            </a:r>
            <a:r>
              <a:rPr lang="tr-TR" dirty="0"/>
              <a:t> dönüştürülmüştür.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 </a:t>
            </a:r>
            <a:r>
              <a:rPr lang="tr-TR" dirty="0"/>
              <a:t>Önerilen sistem mimarisi ile randevu, ceza yönetimi ve arıza bildirim süreçleri insan müdahalesine gerek kalmadan çalışır hale getirilmiştir.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 </a:t>
            </a:r>
            <a:r>
              <a:rPr lang="tr-TR" dirty="0"/>
              <a:t>Sistem, her yurtta kolayca uygulanabilir bir model olarak tasarlanmıştır.</a:t>
            </a:r>
          </a:p>
          <a:p>
            <a:pPr>
              <a:buNone/>
            </a:pPr>
            <a:r>
              <a:rPr lang="tr-TR" b="1" dirty="0"/>
              <a:t>FAYDALAR 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⚖️ </a:t>
            </a:r>
            <a:r>
              <a:rPr lang="tr-TR" dirty="0"/>
              <a:t>Sıra kapma ve makine işgali gibi sorunlar, otomatik ceza ve kota sistemi ile çözülerek öğrenciler arasında fırsat eşitliği sağlanmıştır.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📊 </a:t>
            </a:r>
            <a:r>
              <a:rPr lang="tr-TR" dirty="0"/>
              <a:t>Yurt idaresi hangi makinenin ne kadar çalıştığını, ne zaman bozulduğunu ve enerji tüketimini verilerle yönetebilir hale gelmiştir.</a:t>
            </a:r>
          </a:p>
        </p:txBody>
      </p:sp>
      <p:pic>
        <p:nvPicPr>
          <p:cNvPr id="27" name="Resim 26" descr="çizgi fil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A66A212-1A09-6906-A1E9-81A96E61F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124" y="372686"/>
            <a:ext cx="2425724" cy="21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57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İçerik Yer Tutucusu 7" descr="metin, ekran görüntüsü, grafik tasarı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9EBE813-E467-0A97-3E0E-CE919CDE0E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01"/>
          <a:stretch>
            <a:fillRect/>
          </a:stretch>
        </p:blipFill>
        <p:spPr>
          <a:xfrm>
            <a:off x="-1" y="0"/>
            <a:ext cx="6110073" cy="6858000"/>
          </a:xfr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559A1193-B9BA-A0F6-770C-C3BBEF124001}"/>
              </a:ext>
            </a:extLst>
          </p:cNvPr>
          <p:cNvSpPr txBox="1"/>
          <p:nvPr/>
        </p:nvSpPr>
        <p:spPr>
          <a:xfrm>
            <a:off x="7143750" y="3059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Amasis MT Pro Black" panose="02040A04050005020304" pitchFamily="18" charset="-94"/>
              </a:rPr>
              <a:t>DİNLEDİĞİNİZ İÇİN TEŞEKKÜRLER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75A90662-3A55-7658-0664-7A941394C574}"/>
              </a:ext>
            </a:extLst>
          </p:cNvPr>
          <p:cNvSpPr txBox="1"/>
          <p:nvPr/>
        </p:nvSpPr>
        <p:spPr>
          <a:xfrm>
            <a:off x="7411212" y="3337447"/>
            <a:ext cx="6574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/>
              <a:t>Zeynep ERDEM &amp; Alperen KAMBER</a:t>
            </a:r>
          </a:p>
        </p:txBody>
      </p:sp>
      <p:pic>
        <p:nvPicPr>
          <p:cNvPr id="17" name="Resim 16" descr="daire, amblem, logo, yuvarla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BD00D66-EDA6-A3A5-5107-EB1604D2F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715" y="5915019"/>
            <a:ext cx="850392" cy="850392"/>
          </a:xfrm>
          <a:prstGeom prst="rect">
            <a:avLst/>
          </a:prstGeom>
        </p:spPr>
      </p:pic>
      <p:pic>
        <p:nvPicPr>
          <p:cNvPr id="18" name="İçerik Yer Tutucusu 11" descr="metin, logo, simge, sembol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821A2E9-4761-B562-CD56-BCFE125E7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352" y="5915019"/>
            <a:ext cx="850392" cy="850392"/>
          </a:xfrm>
          <a:prstGeom prst="rect">
            <a:avLst/>
          </a:prstGeom>
        </p:spPr>
      </p:pic>
      <p:pic>
        <p:nvPicPr>
          <p:cNvPr id="19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6FC682-3933-5714-BA97-A8426C5B50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378184" y="203488"/>
            <a:ext cx="542544" cy="506131"/>
          </a:xfrm>
          <a:prstGeom prst="rect">
            <a:avLst/>
          </a:prstGeom>
        </p:spPr>
      </p:pic>
      <p:pic>
        <p:nvPicPr>
          <p:cNvPr id="20" name="İçerik Yer Tutucusu 53" descr="metin, yazılım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D7EBAF-CAF9-E64C-23D9-C6D6BFFE1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95" r="93740"/>
          <a:stretch>
            <a:fillRect/>
          </a:stretch>
        </p:blipFill>
        <p:spPr>
          <a:xfrm>
            <a:off x="11649456" y="-21901"/>
            <a:ext cx="542544" cy="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8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1188</Words>
  <Application>Microsoft Office PowerPoint</Application>
  <PresentationFormat>Geniş ekran</PresentationFormat>
  <Paragraphs>305</Paragraphs>
  <Slides>32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8" baseType="lpstr">
      <vt:lpstr>Amasis MT Pro Black</vt:lpstr>
      <vt:lpstr>Aptos</vt:lpstr>
      <vt:lpstr>Aptos Display</vt:lpstr>
      <vt:lpstr>Arial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ZEYNEP ERDEM</dc:creator>
  <cp:lastModifiedBy>ZEYNEP ERDEM</cp:lastModifiedBy>
  <cp:revision>17</cp:revision>
  <dcterms:created xsi:type="dcterms:W3CDTF">2025-12-20T10:01:05Z</dcterms:created>
  <dcterms:modified xsi:type="dcterms:W3CDTF">2025-12-27T13:30:55Z</dcterms:modified>
</cp:coreProperties>
</file>